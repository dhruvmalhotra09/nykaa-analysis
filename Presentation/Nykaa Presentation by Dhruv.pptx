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74" r:id="rId6"/>
    <p:sldId id="276" r:id="rId7"/>
    <p:sldId id="261" r:id="rId8"/>
    <p:sldId id="277" r:id="rId9"/>
    <p:sldId id="278" r:id="rId10"/>
    <p:sldId id="263" r:id="rId11"/>
    <p:sldId id="279" r:id="rId12"/>
    <p:sldId id="265" r:id="rId13"/>
    <p:sldId id="281" r:id="rId14"/>
    <p:sldId id="282" r:id="rId15"/>
    <p:sldId id="290" r:id="rId16"/>
    <p:sldId id="268" r:id="rId17"/>
    <p:sldId id="288" r:id="rId18"/>
    <p:sldId id="289" r:id="rId19"/>
    <p:sldId id="292" r:id="rId20"/>
    <p:sldId id="280" r:id="rId21"/>
    <p:sldId id="283" r:id="rId22"/>
    <p:sldId id="272" r:id="rId23"/>
    <p:sldId id="29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FFDDEE"/>
    <a:srgbClr val="FFE1F5"/>
    <a:srgbClr val="FF0066"/>
    <a:srgbClr val="F8BBD0"/>
    <a:srgbClr val="F6CDD0"/>
    <a:srgbClr val="F3C8D3"/>
    <a:srgbClr val="F3C8DE"/>
    <a:srgbClr val="FBFFFF"/>
    <a:srgbClr val="F8B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pos="381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AppData\Local\Microsoft\Windows\INetCache\IE\UV3GZQZW\FiscalYear-RevenuefromOperationscrore%5b1%5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 dirty="0">
                <a:solidFill>
                  <a:srgbClr val="FF6699"/>
                </a:solidFill>
              </a:rPr>
              <a:t>Net Sales Growth Year</a:t>
            </a:r>
            <a:r>
              <a:rPr lang="en-IN" sz="2000" baseline="0" dirty="0">
                <a:solidFill>
                  <a:srgbClr val="FF6699"/>
                </a:solidFill>
              </a:rPr>
              <a:t> on Year in Crores</a:t>
            </a:r>
            <a:endParaRPr lang="en-IN" sz="2000" dirty="0">
              <a:solidFill>
                <a:srgbClr val="FF6699"/>
              </a:solidFill>
            </a:endParaRPr>
          </a:p>
        </c:rich>
      </c:tx>
      <c:layout>
        <c:manualLayout>
          <c:xMode val="edge"/>
          <c:yMode val="edge"/>
          <c:x val="0.22502465203146368"/>
          <c:y val="2.0724617650041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4279378437733093E-2"/>
          <c:y val="0.13359199338961117"/>
          <c:w val="0.90758295838659186"/>
          <c:h val="0.79865336095174511"/>
        </c:manualLayout>
      </c:layout>
      <c:bar3DChart>
        <c:barDir val="col"/>
        <c:grouping val="clustered"/>
        <c:varyColors val="0"/>
        <c:ser>
          <c:idx val="0"/>
          <c:order val="0"/>
          <c:spPr>
            <a:solidFill>
              <a:srgbClr val="F8BBD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'[FiscalYear-RevenuefromOperationscrore(1).xlsx]FiscalYear-RevenuefromOperation'!$A$2:$A$6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'[FiscalYear-RevenuefromOperationscrore(1).xlsx]FiscalYear-RevenuefromOperation'!$B$2:$B$6</c:f>
              <c:numCache>
                <c:formatCode>#,##0</c:formatCode>
                <c:ptCount val="5"/>
                <c:pt idx="0">
                  <c:v>2440</c:v>
                </c:pt>
                <c:pt idx="1">
                  <c:v>3774</c:v>
                </c:pt>
                <c:pt idx="2">
                  <c:v>5143</c:v>
                </c:pt>
                <c:pt idx="3">
                  <c:v>6386</c:v>
                </c:pt>
                <c:pt idx="4">
                  <c:v>7950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B2-4E70-A822-3081B4944D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278843472"/>
        <c:axId val="1278843952"/>
        <c:axId val="0"/>
      </c:bar3DChart>
      <c:catAx>
        <c:axId val="127884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843952"/>
        <c:crosses val="autoZero"/>
        <c:auto val="1"/>
        <c:lblAlgn val="ctr"/>
        <c:lblOffset val="100"/>
        <c:noMultiLvlLbl val="0"/>
      </c:catAx>
      <c:valAx>
        <c:axId val="1278843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84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77B688-A7C9-4260-B45A-57A46629732D}" type="doc">
      <dgm:prSet loTypeId="urn:microsoft.com/office/officeart/2005/8/layout/cycle4" loCatId="cycle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104077-E1B2-4F6D-80DB-81DAB2C8A3FA}">
      <dgm:prSet phldrT="[Text]"/>
      <dgm:spPr>
        <a:solidFill>
          <a:srgbClr val="F8BBD0"/>
        </a:solidFill>
      </dgm:spPr>
      <dgm:t>
        <a:bodyPr/>
        <a:lstStyle/>
        <a:p>
          <a:r>
            <a:rPr lang="en-US" dirty="0"/>
            <a:t>2</a:t>
          </a:r>
        </a:p>
      </dgm:t>
    </dgm:pt>
    <dgm:pt modelId="{29706FDA-59C6-4236-A62C-1EF11C07DF01}" type="parTrans" cxnId="{D626BCEF-8C03-4F93-9CA8-E4EA14ABB7E0}">
      <dgm:prSet/>
      <dgm:spPr/>
      <dgm:t>
        <a:bodyPr/>
        <a:lstStyle/>
        <a:p>
          <a:endParaRPr lang="en-US"/>
        </a:p>
      </dgm:t>
    </dgm:pt>
    <dgm:pt modelId="{0F1AB7E8-B90A-4574-81B2-005BC01419FE}" type="sibTrans" cxnId="{D626BCEF-8C03-4F93-9CA8-E4EA14ABB7E0}">
      <dgm:prSet/>
      <dgm:spPr/>
      <dgm:t>
        <a:bodyPr/>
        <a:lstStyle/>
        <a:p>
          <a:endParaRPr lang="en-US"/>
        </a:p>
      </dgm:t>
    </dgm:pt>
    <dgm:pt modelId="{5CB6ACA5-76F2-4847-914C-82BAF56236BF}">
      <dgm:prSet phldrT="[Text]"/>
      <dgm:spPr>
        <a:solidFill>
          <a:srgbClr val="F8BBD0"/>
        </a:solidFill>
      </dgm:spPr>
      <dgm:t>
        <a:bodyPr/>
        <a:lstStyle/>
        <a:p>
          <a:r>
            <a:rPr lang="en-US" dirty="0"/>
            <a:t>3</a:t>
          </a:r>
        </a:p>
      </dgm:t>
    </dgm:pt>
    <dgm:pt modelId="{47F809B5-51D4-4869-B194-5A1769464070}" type="parTrans" cxnId="{ADBFE57E-0A9F-44AA-B37F-98C003E257D8}">
      <dgm:prSet/>
      <dgm:spPr/>
      <dgm:t>
        <a:bodyPr/>
        <a:lstStyle/>
        <a:p>
          <a:endParaRPr lang="en-US"/>
        </a:p>
      </dgm:t>
    </dgm:pt>
    <dgm:pt modelId="{F89CD727-DC6D-430F-AA3E-E03DF47A60CD}" type="sibTrans" cxnId="{ADBFE57E-0A9F-44AA-B37F-98C003E257D8}">
      <dgm:prSet/>
      <dgm:spPr/>
      <dgm:t>
        <a:bodyPr/>
        <a:lstStyle/>
        <a:p>
          <a:endParaRPr lang="en-US"/>
        </a:p>
      </dgm:t>
    </dgm:pt>
    <dgm:pt modelId="{1F7E53A7-C938-43FD-8922-57B9A50D42D2}">
      <dgm:prSet phldrT="[Text]"/>
      <dgm:spPr>
        <a:solidFill>
          <a:srgbClr val="F8BBD0"/>
        </a:solidFill>
      </dgm:spPr>
      <dgm:t>
        <a:bodyPr/>
        <a:lstStyle/>
        <a:p>
          <a:r>
            <a:rPr lang="en-US" dirty="0"/>
            <a:t>4</a:t>
          </a:r>
        </a:p>
      </dgm:t>
    </dgm:pt>
    <dgm:pt modelId="{3F5B2B10-CFCA-4B5E-87C2-DC757CD71437}" type="parTrans" cxnId="{5F16F2E5-5DCD-40A4-B758-42422EC35854}">
      <dgm:prSet/>
      <dgm:spPr/>
      <dgm:t>
        <a:bodyPr/>
        <a:lstStyle/>
        <a:p>
          <a:endParaRPr lang="en-US"/>
        </a:p>
      </dgm:t>
    </dgm:pt>
    <dgm:pt modelId="{9CC1361B-4341-438C-B570-32173CE1C828}" type="sibTrans" cxnId="{5F16F2E5-5DCD-40A4-B758-42422EC35854}">
      <dgm:prSet/>
      <dgm:spPr/>
      <dgm:t>
        <a:bodyPr/>
        <a:lstStyle/>
        <a:p>
          <a:endParaRPr lang="en-US"/>
        </a:p>
      </dgm:t>
    </dgm:pt>
    <dgm:pt modelId="{E85E7B7C-57F1-460B-8FB3-0DBCED98DA38}">
      <dgm:prSet phldrT="[Text]"/>
      <dgm:spPr>
        <a:solidFill>
          <a:srgbClr val="F8BBD0"/>
        </a:solidFill>
      </dgm:spPr>
      <dgm:t>
        <a:bodyPr/>
        <a:lstStyle/>
        <a:p>
          <a:r>
            <a:rPr lang="en-US" dirty="0"/>
            <a:t>1</a:t>
          </a:r>
        </a:p>
      </dgm:t>
    </dgm:pt>
    <dgm:pt modelId="{7A4864F1-9FC1-4246-AFE8-5309AEBC6146}" type="sibTrans" cxnId="{931F9CD6-495E-444B-A2D6-85B7A9C2A177}">
      <dgm:prSet/>
      <dgm:spPr/>
      <dgm:t>
        <a:bodyPr/>
        <a:lstStyle/>
        <a:p>
          <a:endParaRPr lang="en-US"/>
        </a:p>
      </dgm:t>
    </dgm:pt>
    <dgm:pt modelId="{C1CE61F4-8D82-4D3B-921B-FE99F21854BE}" type="parTrans" cxnId="{931F9CD6-495E-444B-A2D6-85B7A9C2A177}">
      <dgm:prSet/>
      <dgm:spPr/>
      <dgm:t>
        <a:bodyPr/>
        <a:lstStyle/>
        <a:p>
          <a:endParaRPr lang="en-US"/>
        </a:p>
      </dgm:t>
    </dgm:pt>
    <dgm:pt modelId="{5FE55FB3-B0C2-40A7-A3F0-65B890A447EB}" type="pres">
      <dgm:prSet presAssocID="{C677B688-A7C9-4260-B45A-57A46629732D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61FC2B37-4B01-455C-A4E1-5B28AC651F30}" type="pres">
      <dgm:prSet presAssocID="{C677B688-A7C9-4260-B45A-57A46629732D}" presName="children" presStyleCnt="0"/>
      <dgm:spPr/>
    </dgm:pt>
    <dgm:pt modelId="{A0C54C17-F5A7-4557-A19F-66EF58888BCB}" type="pres">
      <dgm:prSet presAssocID="{C677B688-A7C9-4260-B45A-57A46629732D}" presName="childPlaceholder" presStyleCnt="0"/>
      <dgm:spPr/>
    </dgm:pt>
    <dgm:pt modelId="{E574696C-D0E4-4CAA-964B-635D9056E743}" type="pres">
      <dgm:prSet presAssocID="{C677B688-A7C9-4260-B45A-57A46629732D}" presName="circle" presStyleCnt="0"/>
      <dgm:spPr/>
    </dgm:pt>
    <dgm:pt modelId="{393F7BD7-697E-489A-9ADD-54C2845B8935}" type="pres">
      <dgm:prSet presAssocID="{C677B688-A7C9-4260-B45A-57A46629732D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C1DAA3F0-A0AB-4BEA-94C7-1DADA6E09709}" type="pres">
      <dgm:prSet presAssocID="{C677B688-A7C9-4260-B45A-57A46629732D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4047F51D-CB25-4EBE-BECA-EE9E459D0E27}" type="pres">
      <dgm:prSet presAssocID="{C677B688-A7C9-4260-B45A-57A46629732D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6F1C114F-5B0A-4237-93B9-BA881C280A9D}" type="pres">
      <dgm:prSet presAssocID="{C677B688-A7C9-4260-B45A-57A46629732D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D323959B-773B-4AB6-9B0B-3C0F903CF89D}" type="pres">
      <dgm:prSet presAssocID="{C677B688-A7C9-4260-B45A-57A46629732D}" presName="quadrantPlaceholder" presStyleCnt="0"/>
      <dgm:spPr/>
    </dgm:pt>
    <dgm:pt modelId="{AB55AE17-BC64-4E39-8B94-FB1DCAF1C678}" type="pres">
      <dgm:prSet presAssocID="{C677B688-A7C9-4260-B45A-57A46629732D}" presName="center1" presStyleLbl="fgShp" presStyleIdx="0" presStyleCnt="2" custFlipVert="0" custFlipHor="1" custScaleX="26891" custScaleY="14784" custLinFactX="600000" custLinFactY="180925" custLinFactNeighborX="699628" custLinFactNeighborY="200000"/>
      <dgm:spPr/>
    </dgm:pt>
    <dgm:pt modelId="{0235CBB0-C1AB-4724-B79A-01903970E987}" type="pres">
      <dgm:prSet presAssocID="{C677B688-A7C9-4260-B45A-57A46629732D}" presName="center2" presStyleLbl="fgShp" presStyleIdx="1" presStyleCnt="2" custFlipHor="1" custScaleX="8844" custScaleY="41342" custLinFactX="600000" custLinFactY="200000" custLinFactNeighborX="697805" custLinFactNeighborY="211887"/>
      <dgm:spPr/>
    </dgm:pt>
  </dgm:ptLst>
  <dgm:cxnLst>
    <dgm:cxn modelId="{5F1E6817-4754-4BD4-8FF4-F48631F41523}" type="presOf" srcId="{E85E7B7C-57F1-460B-8FB3-0DBCED98DA38}" destId="{393F7BD7-697E-489A-9ADD-54C2845B8935}" srcOrd="0" destOrd="0" presId="urn:microsoft.com/office/officeart/2005/8/layout/cycle4"/>
    <dgm:cxn modelId="{C59DA429-738E-4B7A-A4BE-8AE15B13D10E}" type="presOf" srcId="{C677B688-A7C9-4260-B45A-57A46629732D}" destId="{5FE55FB3-B0C2-40A7-A3F0-65B890A447EB}" srcOrd="0" destOrd="0" presId="urn:microsoft.com/office/officeart/2005/8/layout/cycle4"/>
    <dgm:cxn modelId="{155ADC37-B630-4491-8885-4D88898147D6}" type="presOf" srcId="{1F7E53A7-C938-43FD-8922-57B9A50D42D2}" destId="{6F1C114F-5B0A-4237-93B9-BA881C280A9D}" srcOrd="0" destOrd="0" presId="urn:microsoft.com/office/officeart/2005/8/layout/cycle4"/>
    <dgm:cxn modelId="{ADBFE57E-0A9F-44AA-B37F-98C003E257D8}" srcId="{C677B688-A7C9-4260-B45A-57A46629732D}" destId="{5CB6ACA5-76F2-4847-914C-82BAF56236BF}" srcOrd="2" destOrd="0" parTransId="{47F809B5-51D4-4869-B194-5A1769464070}" sibTransId="{F89CD727-DC6D-430F-AA3E-E03DF47A60CD}"/>
    <dgm:cxn modelId="{213B92CD-C7B1-4D00-B5D7-AF9B9B33B746}" type="presOf" srcId="{5CB6ACA5-76F2-4847-914C-82BAF56236BF}" destId="{4047F51D-CB25-4EBE-BECA-EE9E459D0E27}" srcOrd="0" destOrd="0" presId="urn:microsoft.com/office/officeart/2005/8/layout/cycle4"/>
    <dgm:cxn modelId="{931F9CD6-495E-444B-A2D6-85B7A9C2A177}" srcId="{C677B688-A7C9-4260-B45A-57A46629732D}" destId="{E85E7B7C-57F1-460B-8FB3-0DBCED98DA38}" srcOrd="0" destOrd="0" parTransId="{C1CE61F4-8D82-4D3B-921B-FE99F21854BE}" sibTransId="{7A4864F1-9FC1-4246-AFE8-5309AEBC6146}"/>
    <dgm:cxn modelId="{CBE7C5E4-8764-4048-BC9D-87A42522711A}" type="presOf" srcId="{27104077-E1B2-4F6D-80DB-81DAB2C8A3FA}" destId="{C1DAA3F0-A0AB-4BEA-94C7-1DADA6E09709}" srcOrd="0" destOrd="0" presId="urn:microsoft.com/office/officeart/2005/8/layout/cycle4"/>
    <dgm:cxn modelId="{5F16F2E5-5DCD-40A4-B758-42422EC35854}" srcId="{C677B688-A7C9-4260-B45A-57A46629732D}" destId="{1F7E53A7-C938-43FD-8922-57B9A50D42D2}" srcOrd="3" destOrd="0" parTransId="{3F5B2B10-CFCA-4B5E-87C2-DC757CD71437}" sibTransId="{9CC1361B-4341-438C-B570-32173CE1C828}"/>
    <dgm:cxn modelId="{D626BCEF-8C03-4F93-9CA8-E4EA14ABB7E0}" srcId="{C677B688-A7C9-4260-B45A-57A46629732D}" destId="{27104077-E1B2-4F6D-80DB-81DAB2C8A3FA}" srcOrd="1" destOrd="0" parTransId="{29706FDA-59C6-4236-A62C-1EF11C07DF01}" sibTransId="{0F1AB7E8-B90A-4574-81B2-005BC01419FE}"/>
    <dgm:cxn modelId="{19BDCD8E-265F-40CF-8905-41FE72C43323}" type="presParOf" srcId="{5FE55FB3-B0C2-40A7-A3F0-65B890A447EB}" destId="{61FC2B37-4B01-455C-A4E1-5B28AC651F30}" srcOrd="0" destOrd="0" presId="urn:microsoft.com/office/officeart/2005/8/layout/cycle4"/>
    <dgm:cxn modelId="{7664D3FE-A273-4E5D-A83D-54998BACC219}" type="presParOf" srcId="{61FC2B37-4B01-455C-A4E1-5B28AC651F30}" destId="{A0C54C17-F5A7-4557-A19F-66EF58888BCB}" srcOrd="0" destOrd="0" presId="urn:microsoft.com/office/officeart/2005/8/layout/cycle4"/>
    <dgm:cxn modelId="{20BF929A-744C-4D36-862A-EA62FB0CA555}" type="presParOf" srcId="{5FE55FB3-B0C2-40A7-A3F0-65B890A447EB}" destId="{E574696C-D0E4-4CAA-964B-635D9056E743}" srcOrd="1" destOrd="0" presId="urn:microsoft.com/office/officeart/2005/8/layout/cycle4"/>
    <dgm:cxn modelId="{C2DAD95E-4851-4A4E-93B1-06DA74749F0B}" type="presParOf" srcId="{E574696C-D0E4-4CAA-964B-635D9056E743}" destId="{393F7BD7-697E-489A-9ADD-54C2845B8935}" srcOrd="0" destOrd="0" presId="urn:microsoft.com/office/officeart/2005/8/layout/cycle4"/>
    <dgm:cxn modelId="{FB36876E-FF66-4EF8-A589-CE6B3982D2D8}" type="presParOf" srcId="{E574696C-D0E4-4CAA-964B-635D9056E743}" destId="{C1DAA3F0-A0AB-4BEA-94C7-1DADA6E09709}" srcOrd="1" destOrd="0" presId="urn:microsoft.com/office/officeart/2005/8/layout/cycle4"/>
    <dgm:cxn modelId="{919A4017-81FE-45EA-A0C4-C75C0027A0B2}" type="presParOf" srcId="{E574696C-D0E4-4CAA-964B-635D9056E743}" destId="{4047F51D-CB25-4EBE-BECA-EE9E459D0E27}" srcOrd="2" destOrd="0" presId="urn:microsoft.com/office/officeart/2005/8/layout/cycle4"/>
    <dgm:cxn modelId="{E1AA9E79-F464-425F-9BA5-4BF5B6EAE739}" type="presParOf" srcId="{E574696C-D0E4-4CAA-964B-635D9056E743}" destId="{6F1C114F-5B0A-4237-93B9-BA881C280A9D}" srcOrd="3" destOrd="0" presId="urn:microsoft.com/office/officeart/2005/8/layout/cycle4"/>
    <dgm:cxn modelId="{855E970A-2E7B-4890-9EB8-D744AE3E4CFE}" type="presParOf" srcId="{E574696C-D0E4-4CAA-964B-635D9056E743}" destId="{D323959B-773B-4AB6-9B0B-3C0F903CF89D}" srcOrd="4" destOrd="0" presId="urn:microsoft.com/office/officeart/2005/8/layout/cycle4"/>
    <dgm:cxn modelId="{A01D1CB1-D917-411F-AB2F-C78A096B7B5E}" type="presParOf" srcId="{5FE55FB3-B0C2-40A7-A3F0-65B890A447EB}" destId="{AB55AE17-BC64-4E39-8B94-FB1DCAF1C678}" srcOrd="2" destOrd="0" presId="urn:microsoft.com/office/officeart/2005/8/layout/cycle4"/>
    <dgm:cxn modelId="{AE0F8211-8E1B-4E79-862D-7DB5BB1D0500}" type="presParOf" srcId="{5FE55FB3-B0C2-40A7-A3F0-65B890A447EB}" destId="{0235CBB0-C1AB-4724-B79A-01903970E987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F7BD7-697E-489A-9ADD-54C2845B8935}">
      <dsp:nvSpPr>
        <dsp:cNvPr id="0" name=""/>
        <dsp:cNvSpPr/>
      </dsp:nvSpPr>
      <dsp:spPr>
        <a:xfrm>
          <a:off x="3773531" y="255256"/>
          <a:ext cx="1939056" cy="1939056"/>
        </a:xfrm>
        <a:prstGeom prst="pieWedge">
          <a:avLst/>
        </a:prstGeom>
        <a:solidFill>
          <a:srgbClr val="F8BBD0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1</a:t>
          </a:r>
        </a:p>
      </dsp:txBody>
      <dsp:txXfrm>
        <a:off x="4341467" y="823192"/>
        <a:ext cx="1371120" cy="1371120"/>
      </dsp:txXfrm>
    </dsp:sp>
    <dsp:sp modelId="{C1DAA3F0-A0AB-4BEA-94C7-1DADA6E09709}">
      <dsp:nvSpPr>
        <dsp:cNvPr id="0" name=""/>
        <dsp:cNvSpPr/>
      </dsp:nvSpPr>
      <dsp:spPr>
        <a:xfrm rot="5400000">
          <a:off x="5802151" y="255256"/>
          <a:ext cx="1939056" cy="1939056"/>
        </a:xfrm>
        <a:prstGeom prst="pieWedge">
          <a:avLst/>
        </a:prstGeom>
        <a:solidFill>
          <a:srgbClr val="F8BBD0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2</a:t>
          </a:r>
        </a:p>
      </dsp:txBody>
      <dsp:txXfrm rot="-5400000">
        <a:off x="5802151" y="823192"/>
        <a:ext cx="1371120" cy="1371120"/>
      </dsp:txXfrm>
    </dsp:sp>
    <dsp:sp modelId="{4047F51D-CB25-4EBE-BECA-EE9E459D0E27}">
      <dsp:nvSpPr>
        <dsp:cNvPr id="0" name=""/>
        <dsp:cNvSpPr/>
      </dsp:nvSpPr>
      <dsp:spPr>
        <a:xfrm rot="10800000">
          <a:off x="5802151" y="2283876"/>
          <a:ext cx="1939056" cy="1939056"/>
        </a:xfrm>
        <a:prstGeom prst="pieWedge">
          <a:avLst/>
        </a:prstGeom>
        <a:solidFill>
          <a:srgbClr val="F8BBD0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3</a:t>
          </a:r>
        </a:p>
      </dsp:txBody>
      <dsp:txXfrm rot="10800000">
        <a:off x="5802151" y="2283876"/>
        <a:ext cx="1371120" cy="1371120"/>
      </dsp:txXfrm>
    </dsp:sp>
    <dsp:sp modelId="{6F1C114F-5B0A-4237-93B9-BA881C280A9D}">
      <dsp:nvSpPr>
        <dsp:cNvPr id="0" name=""/>
        <dsp:cNvSpPr/>
      </dsp:nvSpPr>
      <dsp:spPr>
        <a:xfrm rot="16200000">
          <a:off x="3773531" y="2283876"/>
          <a:ext cx="1939056" cy="1939056"/>
        </a:xfrm>
        <a:prstGeom prst="pieWedge">
          <a:avLst/>
        </a:prstGeom>
        <a:solidFill>
          <a:srgbClr val="F8BBD0"/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376" tIns="341376" rIns="341376" bIns="341376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4</a:t>
          </a:r>
        </a:p>
      </dsp:txBody>
      <dsp:txXfrm rot="5400000">
        <a:off x="4341467" y="2283876"/>
        <a:ext cx="1371120" cy="1371120"/>
      </dsp:txXfrm>
    </dsp:sp>
    <dsp:sp modelId="{AB55AE17-BC64-4E39-8B94-FB1DCAF1C678}">
      <dsp:nvSpPr>
        <dsp:cNvPr id="0" name=""/>
        <dsp:cNvSpPr/>
      </dsp:nvSpPr>
      <dsp:spPr>
        <a:xfrm flipH="1">
          <a:off x="11424722" y="4301717"/>
          <a:ext cx="180032" cy="86067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35CBB0-C1AB-4724-B79A-01903970E987}">
      <dsp:nvSpPr>
        <dsp:cNvPr id="0" name=""/>
        <dsp:cNvSpPr/>
      </dsp:nvSpPr>
      <dsp:spPr>
        <a:xfrm rot="10800000" flipH="1">
          <a:off x="11485134" y="4357850"/>
          <a:ext cx="59209" cy="240678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39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0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23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3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21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04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20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41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72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2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58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D5A94-29F3-4A41-9C56-3BA6059B7DB4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E4117-50D1-4CD5-AF69-4063C8601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22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53280" cy="6858000"/>
          </a:xfrm>
          <a:prstGeom prst="rect">
            <a:avLst/>
          </a:prstGeom>
        </p:spPr>
      </p:pic>
      <p:sp>
        <p:nvSpPr>
          <p:cNvPr id="20" name="Title 1"/>
          <p:cNvSpPr txBox="1">
            <a:spLocks/>
          </p:cNvSpPr>
          <p:nvPr/>
        </p:nvSpPr>
        <p:spPr>
          <a:xfrm>
            <a:off x="4030734" y="1634469"/>
            <a:ext cx="828318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>
                <a:solidFill>
                  <a:srgbClr val="FF6699"/>
                </a:solidFill>
                <a:latin typeface="+mn-lt"/>
              </a:rPr>
              <a:t>Nykaa Analysis</a:t>
            </a:r>
            <a:endParaRPr lang="en-IN" sz="5400" b="1" i="1" dirty="0">
              <a:solidFill>
                <a:srgbClr val="FF6699"/>
              </a:solidFill>
              <a:latin typeface="+mn-lt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94400" y="3122592"/>
            <a:ext cx="6096000" cy="7794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kern="100" dirty="0">
                <a:ea typeface="Aptos"/>
                <a:cs typeface="Times New Roman" panose="02020603050405020304" pitchFamily="18" charset="0"/>
              </a:rPr>
              <a:t>A Strategic Review of Customer Perception, Market Trends &amp; Competitive Positioning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5760" y="5803244"/>
            <a:ext cx="3058160" cy="902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2000" kern="100" dirty="0">
                <a:ea typeface="Aptos"/>
                <a:cs typeface="Times New Roman" panose="02020603050405020304" pitchFamily="18" charset="0"/>
              </a:rPr>
              <a:t>Submitted by: </a:t>
            </a:r>
            <a:r>
              <a:rPr lang="en-IN" sz="2000" kern="100" dirty="0" err="1">
                <a:ea typeface="Aptos"/>
                <a:cs typeface="Times New Roman" panose="02020603050405020304" pitchFamily="18" charset="0"/>
              </a:rPr>
              <a:t>Dhruv</a:t>
            </a:r>
            <a:endParaRPr lang="en-IN" sz="2000" kern="100" dirty="0">
              <a:ea typeface="Aptos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2000" kern="100" dirty="0">
                <a:ea typeface="Aptos"/>
                <a:cs typeface="Times New Roman" panose="02020603050405020304" pitchFamily="18" charset="0"/>
              </a:rPr>
              <a:t>Date: July 2025</a:t>
            </a:r>
            <a:endParaRPr lang="en-IN" sz="2000" kern="100" dirty="0"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97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2"/>
          <p:cNvSpPr/>
          <p:nvPr/>
        </p:nvSpPr>
        <p:spPr>
          <a:xfrm>
            <a:off x="11084464" y="2620299"/>
            <a:ext cx="650337" cy="530941"/>
          </a:xfrm>
          <a:prstGeom prst="roundRect">
            <a:avLst>
              <a:gd name="adj" fmla="val 18672"/>
            </a:avLst>
          </a:prstGeom>
          <a:solidFill>
            <a:srgbClr val="F8BBD0"/>
          </a:solidFill>
          <a:ln w="762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9029522" y="2089357"/>
            <a:ext cx="650337" cy="530941"/>
          </a:xfrm>
          <a:prstGeom prst="roundRect">
            <a:avLst>
              <a:gd name="adj" fmla="val 18672"/>
            </a:avLst>
          </a:prstGeom>
          <a:solidFill>
            <a:srgbClr val="F8BBD0"/>
          </a:solidFill>
          <a:ln w="762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6949999" y="2615384"/>
            <a:ext cx="650337" cy="530941"/>
          </a:xfrm>
          <a:prstGeom prst="roundRect">
            <a:avLst>
              <a:gd name="adj" fmla="val 18672"/>
            </a:avLst>
          </a:prstGeom>
          <a:solidFill>
            <a:srgbClr val="F8BBD0"/>
          </a:solidFill>
          <a:ln w="762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2"/>
          <p:cNvSpPr/>
          <p:nvPr/>
        </p:nvSpPr>
        <p:spPr>
          <a:xfrm>
            <a:off x="4781986" y="2089358"/>
            <a:ext cx="650337" cy="530941"/>
          </a:xfrm>
          <a:prstGeom prst="roundRect">
            <a:avLst>
              <a:gd name="adj" fmla="val 18672"/>
            </a:avLst>
          </a:prstGeom>
          <a:solidFill>
            <a:srgbClr val="F8BBD0"/>
          </a:solidFill>
          <a:ln w="762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2"/>
          <p:cNvSpPr/>
          <p:nvPr/>
        </p:nvSpPr>
        <p:spPr>
          <a:xfrm>
            <a:off x="2554979" y="2615382"/>
            <a:ext cx="650337" cy="530941"/>
          </a:xfrm>
          <a:prstGeom prst="roundRect">
            <a:avLst>
              <a:gd name="adj" fmla="val 18672"/>
            </a:avLst>
          </a:prstGeom>
          <a:solidFill>
            <a:srgbClr val="F8BBD0"/>
          </a:solidFill>
          <a:ln w="762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67186" y="2084442"/>
            <a:ext cx="650337" cy="530941"/>
          </a:xfrm>
          <a:prstGeom prst="roundRect">
            <a:avLst>
              <a:gd name="adj" fmla="val 18672"/>
            </a:avLst>
          </a:prstGeom>
          <a:solidFill>
            <a:srgbClr val="F8BBD0"/>
          </a:solidFill>
          <a:ln w="762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Introduction To Nykaa</a:t>
            </a:r>
            <a:endParaRPr lang="en-IN" sz="32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74" y="2024852"/>
            <a:ext cx="529225" cy="6615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1948" y="2605549"/>
            <a:ext cx="11287433" cy="18000"/>
          </a:xfrm>
          <a:prstGeom prst="rect">
            <a:avLst/>
          </a:prstGeom>
          <a:solidFill>
            <a:srgbClr val="F8BB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385" y="2614786"/>
            <a:ext cx="420111" cy="52518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67" y="2092640"/>
            <a:ext cx="445216" cy="55657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607" y="2635045"/>
            <a:ext cx="433542" cy="541976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110848"/>
            <a:ext cx="422787" cy="52853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8483" y="2634606"/>
            <a:ext cx="413414" cy="516815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970778" y="1818969"/>
            <a:ext cx="18000" cy="231157"/>
          </a:xfrm>
          <a:prstGeom prst="roundRect">
            <a:avLst>
              <a:gd name="adj" fmla="val 312558"/>
            </a:avLst>
          </a:prstGeom>
          <a:solidFill>
            <a:srgbClr val="F8BBC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3"/>
          <p:cNvSpPr/>
          <p:nvPr/>
        </p:nvSpPr>
        <p:spPr>
          <a:xfrm>
            <a:off x="2863488" y="3151240"/>
            <a:ext cx="18000" cy="231157"/>
          </a:xfrm>
          <a:prstGeom prst="roundRect">
            <a:avLst>
              <a:gd name="adj" fmla="val 312558"/>
            </a:avLst>
          </a:prstGeom>
          <a:solidFill>
            <a:srgbClr val="F8BBC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3"/>
          <p:cNvSpPr/>
          <p:nvPr/>
        </p:nvSpPr>
        <p:spPr>
          <a:xfrm>
            <a:off x="5090495" y="1848467"/>
            <a:ext cx="18000" cy="231157"/>
          </a:xfrm>
          <a:prstGeom prst="roundRect">
            <a:avLst>
              <a:gd name="adj" fmla="val 312558"/>
            </a:avLst>
          </a:prstGeom>
          <a:solidFill>
            <a:srgbClr val="F8BBC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3"/>
          <p:cNvSpPr/>
          <p:nvPr/>
        </p:nvSpPr>
        <p:spPr>
          <a:xfrm>
            <a:off x="7253591" y="3156156"/>
            <a:ext cx="18000" cy="231157"/>
          </a:xfrm>
          <a:prstGeom prst="roundRect">
            <a:avLst>
              <a:gd name="adj" fmla="val 312558"/>
            </a:avLst>
          </a:prstGeom>
          <a:solidFill>
            <a:srgbClr val="F8BBC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3"/>
          <p:cNvSpPr/>
          <p:nvPr/>
        </p:nvSpPr>
        <p:spPr>
          <a:xfrm>
            <a:off x="9328197" y="1838634"/>
            <a:ext cx="18000" cy="231157"/>
          </a:xfrm>
          <a:prstGeom prst="roundRect">
            <a:avLst>
              <a:gd name="adj" fmla="val 312558"/>
            </a:avLst>
          </a:prstGeom>
          <a:solidFill>
            <a:srgbClr val="F8BBC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3"/>
          <p:cNvSpPr/>
          <p:nvPr/>
        </p:nvSpPr>
        <p:spPr>
          <a:xfrm>
            <a:off x="11402803" y="3175822"/>
            <a:ext cx="18000" cy="231157"/>
          </a:xfrm>
          <a:prstGeom prst="roundRect">
            <a:avLst>
              <a:gd name="adj" fmla="val 312558"/>
            </a:avLst>
          </a:prstGeom>
          <a:solidFill>
            <a:srgbClr val="F8BBCA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5"/>
          <p:cNvSpPr/>
          <p:nvPr/>
        </p:nvSpPr>
        <p:spPr>
          <a:xfrm>
            <a:off x="-286853" y="1259999"/>
            <a:ext cx="2516267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</a:p>
        </p:txBody>
      </p:sp>
      <p:sp>
        <p:nvSpPr>
          <p:cNvPr id="30" name="Text 6"/>
          <p:cNvSpPr/>
          <p:nvPr/>
        </p:nvSpPr>
        <p:spPr>
          <a:xfrm>
            <a:off x="165915" y="1554778"/>
            <a:ext cx="3284696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Founded by Falguni </a:t>
            </a:r>
            <a:r>
              <a:rPr lang="en-US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Nayar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in Mumbai</a:t>
            </a:r>
            <a:endParaRPr lang="en-US" dirty="0"/>
          </a:p>
        </p:txBody>
      </p:sp>
      <p:sp>
        <p:nvSpPr>
          <p:cNvPr id="31" name="Text 5"/>
          <p:cNvSpPr/>
          <p:nvPr/>
        </p:nvSpPr>
        <p:spPr>
          <a:xfrm>
            <a:off x="1605354" y="3370848"/>
            <a:ext cx="2516267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</a:p>
        </p:txBody>
      </p:sp>
      <p:sp>
        <p:nvSpPr>
          <p:cNvPr id="33" name="Text 5"/>
          <p:cNvSpPr/>
          <p:nvPr/>
        </p:nvSpPr>
        <p:spPr>
          <a:xfrm>
            <a:off x="3842696" y="1240334"/>
            <a:ext cx="2516267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</a:p>
        </p:txBody>
      </p:sp>
      <p:sp>
        <p:nvSpPr>
          <p:cNvPr id="34" name="Text 6"/>
          <p:cNvSpPr/>
          <p:nvPr/>
        </p:nvSpPr>
        <p:spPr>
          <a:xfrm>
            <a:off x="912631" y="3650153"/>
            <a:ext cx="3284696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0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Launched mobile app &amp; digital content</a:t>
            </a:r>
            <a:endParaRPr lang="en-US" dirty="0"/>
          </a:p>
        </p:txBody>
      </p:sp>
      <p:sp>
        <p:nvSpPr>
          <p:cNvPr id="40" name="Text 21"/>
          <p:cNvSpPr/>
          <p:nvPr/>
        </p:nvSpPr>
        <p:spPr>
          <a:xfrm>
            <a:off x="5417574" y="3649917"/>
            <a:ext cx="3284815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Unicorn Status; Launched Nykaa Man</a:t>
            </a:r>
            <a:endParaRPr lang="en-US" dirty="0"/>
          </a:p>
        </p:txBody>
      </p:sp>
      <p:sp>
        <p:nvSpPr>
          <p:cNvPr id="41" name="Text 16"/>
          <p:cNvSpPr/>
          <p:nvPr/>
        </p:nvSpPr>
        <p:spPr>
          <a:xfrm>
            <a:off x="3647175" y="1558060"/>
            <a:ext cx="4125338" cy="319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Expanded into Fashion </a:t>
            </a:r>
            <a:r>
              <a:rPr lang="en-US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&amp; Offline Stores</a:t>
            </a:r>
            <a:endParaRPr lang="en-US" dirty="0"/>
          </a:p>
        </p:txBody>
      </p:sp>
      <p:sp>
        <p:nvSpPr>
          <p:cNvPr id="42" name="Text 5"/>
          <p:cNvSpPr/>
          <p:nvPr/>
        </p:nvSpPr>
        <p:spPr>
          <a:xfrm>
            <a:off x="6010710" y="3349353"/>
            <a:ext cx="2516267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  <p:sp>
        <p:nvSpPr>
          <p:cNvPr id="43" name="Text 5"/>
          <p:cNvSpPr/>
          <p:nvPr/>
        </p:nvSpPr>
        <p:spPr>
          <a:xfrm>
            <a:off x="8114813" y="1245250"/>
            <a:ext cx="2516267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</p:txBody>
      </p:sp>
      <p:sp>
        <p:nvSpPr>
          <p:cNvPr id="44" name="Text 5"/>
          <p:cNvSpPr/>
          <p:nvPr/>
        </p:nvSpPr>
        <p:spPr>
          <a:xfrm>
            <a:off x="10159922" y="3349353"/>
            <a:ext cx="2516267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2022-25</a:t>
            </a:r>
          </a:p>
        </p:txBody>
      </p:sp>
      <p:sp>
        <p:nvSpPr>
          <p:cNvPr id="45" name="Text 26"/>
          <p:cNvSpPr/>
          <p:nvPr/>
        </p:nvSpPr>
        <p:spPr>
          <a:xfrm>
            <a:off x="7680153" y="1555692"/>
            <a:ext cx="3284815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Successful IPO on NSE/BSE</a:t>
            </a:r>
            <a:endParaRPr lang="en-US" dirty="0"/>
          </a:p>
        </p:txBody>
      </p:sp>
      <p:sp>
        <p:nvSpPr>
          <p:cNvPr id="46" name="Text 31"/>
          <p:cNvSpPr/>
          <p:nvPr/>
        </p:nvSpPr>
        <p:spPr>
          <a:xfrm>
            <a:off x="9064922" y="3653965"/>
            <a:ext cx="3284815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40M+ customers, 230+ stores</a:t>
            </a:r>
            <a:endParaRPr 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203201" y="4147127"/>
            <a:ext cx="11822545" cy="2558473"/>
          </a:xfrm>
          <a:prstGeom prst="roundRect">
            <a:avLst/>
          </a:prstGeom>
          <a:solidFill>
            <a:srgbClr val="F3C8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502" y="4365924"/>
            <a:ext cx="265748" cy="212646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762271" y="434627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Vision:</a:t>
            </a:r>
            <a:endParaRPr lang="en-US" sz="1650" dirty="0"/>
          </a:p>
        </p:txBody>
      </p:sp>
      <p:sp>
        <p:nvSpPr>
          <p:cNvPr id="51" name="Text 29"/>
          <p:cNvSpPr/>
          <p:nvPr/>
        </p:nvSpPr>
        <p:spPr>
          <a:xfrm>
            <a:off x="762271" y="4782048"/>
            <a:ext cx="1226700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"Bring inspiration and joy to people, everywhere, everyday."</a:t>
            </a:r>
            <a:endParaRPr lang="en-US" sz="1600" dirty="0"/>
          </a:p>
        </p:txBody>
      </p:sp>
      <p:sp>
        <p:nvSpPr>
          <p:cNvPr id="52" name="Text 30"/>
          <p:cNvSpPr/>
          <p:nvPr/>
        </p:nvSpPr>
        <p:spPr>
          <a:xfrm>
            <a:off x="762271" y="522424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Mission:</a:t>
            </a:r>
            <a:endParaRPr lang="en-US" sz="1650" dirty="0"/>
          </a:p>
        </p:txBody>
      </p:sp>
      <p:sp>
        <p:nvSpPr>
          <p:cNvPr id="53" name="Text 31"/>
          <p:cNvSpPr/>
          <p:nvPr/>
        </p:nvSpPr>
        <p:spPr>
          <a:xfrm>
            <a:off x="762271" y="5660015"/>
            <a:ext cx="12267009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"To create a world where our consumers have access to a finely curated, authentic assortment of products and services that delight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and elevate the human spirit."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2222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Key Facts At A Glance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Shape 1"/>
          <p:cNvSpPr/>
          <p:nvPr/>
        </p:nvSpPr>
        <p:spPr>
          <a:xfrm>
            <a:off x="570792" y="145574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8"/>
          <p:cNvSpPr/>
          <p:nvPr/>
        </p:nvSpPr>
        <p:spPr>
          <a:xfrm>
            <a:off x="2171007" y="1169698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"/>
          <p:cNvSpPr/>
          <p:nvPr/>
        </p:nvSpPr>
        <p:spPr>
          <a:xfrm>
            <a:off x="6340225" y="145574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1"/>
          <p:cNvSpPr/>
          <p:nvPr/>
        </p:nvSpPr>
        <p:spPr>
          <a:xfrm>
            <a:off x="650624" y="311563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1"/>
          <p:cNvSpPr/>
          <p:nvPr/>
        </p:nvSpPr>
        <p:spPr>
          <a:xfrm>
            <a:off x="650624" y="4819214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1"/>
          <p:cNvSpPr/>
          <p:nvPr/>
        </p:nvSpPr>
        <p:spPr>
          <a:xfrm>
            <a:off x="6340224" y="3113553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1"/>
          <p:cNvSpPr/>
          <p:nvPr/>
        </p:nvSpPr>
        <p:spPr>
          <a:xfrm>
            <a:off x="6340224" y="4819214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18"/>
          <p:cNvSpPr/>
          <p:nvPr/>
        </p:nvSpPr>
        <p:spPr>
          <a:xfrm>
            <a:off x="2152784" y="282123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18"/>
          <p:cNvSpPr/>
          <p:nvPr/>
        </p:nvSpPr>
        <p:spPr>
          <a:xfrm>
            <a:off x="2165529" y="454975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18"/>
          <p:cNvSpPr/>
          <p:nvPr/>
        </p:nvSpPr>
        <p:spPr>
          <a:xfrm>
            <a:off x="8145556" y="1167203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18"/>
          <p:cNvSpPr/>
          <p:nvPr/>
        </p:nvSpPr>
        <p:spPr>
          <a:xfrm>
            <a:off x="8145556" y="280761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18"/>
          <p:cNvSpPr/>
          <p:nvPr/>
        </p:nvSpPr>
        <p:spPr>
          <a:xfrm>
            <a:off x="8145556" y="452689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709" y="1203225"/>
            <a:ext cx="443716" cy="554644"/>
          </a:xfrm>
          <a:prstGeom prst="rect">
            <a:avLst/>
          </a:prstGeom>
        </p:spPr>
      </p:pic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945" y="2890791"/>
            <a:ext cx="443716" cy="554644"/>
          </a:xfrm>
          <a:prstGeom prst="rect">
            <a:avLst/>
          </a:prstGeom>
        </p:spPr>
      </p:pic>
      <p:pic>
        <p:nvPicPr>
          <p:cNvPr id="6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679" y="4573506"/>
            <a:ext cx="466284" cy="582853"/>
          </a:xfrm>
          <a:prstGeom prst="rect">
            <a:avLst/>
          </a:prstGeom>
        </p:spPr>
      </p:pic>
      <p:pic>
        <p:nvPicPr>
          <p:cNvPr id="6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040" y="1167203"/>
            <a:ext cx="476106" cy="595131"/>
          </a:xfrm>
          <a:prstGeom prst="rect">
            <a:avLst/>
          </a:prstGeom>
        </p:spPr>
      </p:pic>
      <p:pic>
        <p:nvPicPr>
          <p:cNvPr id="6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613" y="2877637"/>
            <a:ext cx="399960" cy="499950"/>
          </a:xfrm>
          <a:prstGeom prst="rect">
            <a:avLst/>
          </a:prstGeom>
        </p:spPr>
      </p:pic>
      <p:sp>
        <p:nvSpPr>
          <p:cNvPr id="67" name="Text 3"/>
          <p:cNvSpPr/>
          <p:nvPr/>
        </p:nvSpPr>
        <p:spPr>
          <a:xfrm>
            <a:off x="1146181" y="1822351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Omnichannel Business Model</a:t>
            </a:r>
            <a:endParaRPr lang="en-US" sz="2000" dirty="0"/>
          </a:p>
        </p:txBody>
      </p:sp>
      <p:sp>
        <p:nvSpPr>
          <p:cNvPr id="69" name="Text 11"/>
          <p:cNvSpPr/>
          <p:nvPr/>
        </p:nvSpPr>
        <p:spPr>
          <a:xfrm>
            <a:off x="1347755" y="3461271"/>
            <a:ext cx="3013472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Strong In-House Brands</a:t>
            </a:r>
            <a:endParaRPr lang="en-US" sz="2000" dirty="0"/>
          </a:p>
        </p:txBody>
      </p:sp>
      <p:sp>
        <p:nvSpPr>
          <p:cNvPr id="71" name="Text 7"/>
          <p:cNvSpPr/>
          <p:nvPr/>
        </p:nvSpPr>
        <p:spPr>
          <a:xfrm>
            <a:off x="7267745" y="1821547"/>
            <a:ext cx="277165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Vast Product Portfolio</a:t>
            </a:r>
            <a:endParaRPr lang="en-US" sz="2000" dirty="0"/>
          </a:p>
        </p:txBody>
      </p:sp>
      <p:sp>
        <p:nvSpPr>
          <p:cNvPr id="73" name="Text 15"/>
          <p:cNvSpPr/>
          <p:nvPr/>
        </p:nvSpPr>
        <p:spPr>
          <a:xfrm>
            <a:off x="7461296" y="3460408"/>
            <a:ext cx="273950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Robust Financials</a:t>
            </a:r>
            <a:endParaRPr lang="en-US" sz="2000" dirty="0"/>
          </a:p>
        </p:txBody>
      </p:sp>
      <p:sp>
        <p:nvSpPr>
          <p:cNvPr id="74" name="Text 23"/>
          <p:cNvSpPr/>
          <p:nvPr/>
        </p:nvSpPr>
        <p:spPr>
          <a:xfrm>
            <a:off x="7461296" y="5202866"/>
            <a:ext cx="273950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Engaged Community</a:t>
            </a:r>
            <a:endParaRPr lang="en-US" sz="2000" dirty="0"/>
          </a:p>
        </p:txBody>
      </p:sp>
      <p:sp>
        <p:nvSpPr>
          <p:cNvPr id="75" name="Text 19"/>
          <p:cNvSpPr/>
          <p:nvPr/>
        </p:nvSpPr>
        <p:spPr>
          <a:xfrm>
            <a:off x="1347755" y="5203870"/>
            <a:ext cx="340447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Unique Selling Proposition</a:t>
            </a:r>
            <a:endParaRPr lang="en-US" sz="2000" dirty="0"/>
          </a:p>
        </p:txBody>
      </p:sp>
      <p:pic>
        <p:nvPicPr>
          <p:cNvPr id="7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628" y="4629618"/>
            <a:ext cx="339929" cy="424910"/>
          </a:xfrm>
          <a:prstGeom prst="rect">
            <a:avLst/>
          </a:prstGeom>
        </p:spPr>
      </p:pic>
      <p:sp>
        <p:nvSpPr>
          <p:cNvPr id="77" name="Text 4"/>
          <p:cNvSpPr/>
          <p:nvPr/>
        </p:nvSpPr>
        <p:spPr>
          <a:xfrm>
            <a:off x="909242" y="2189587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App, website, 230+ stores across 79 cities</a:t>
            </a:r>
            <a:endParaRPr lang="en-US" dirty="0"/>
          </a:p>
        </p:txBody>
      </p:sp>
      <p:sp>
        <p:nvSpPr>
          <p:cNvPr id="78" name="Text 8"/>
          <p:cNvSpPr/>
          <p:nvPr/>
        </p:nvSpPr>
        <p:spPr>
          <a:xfrm>
            <a:off x="6441194" y="2171039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2,500+ brands, 500,000+ SKUs in beauty, fashion, wellness</a:t>
            </a:r>
            <a:endParaRPr lang="en-US" dirty="0"/>
          </a:p>
        </p:txBody>
      </p:sp>
      <p:sp>
        <p:nvSpPr>
          <p:cNvPr id="79" name="Text 12"/>
          <p:cNvSpPr/>
          <p:nvPr/>
        </p:nvSpPr>
        <p:spPr>
          <a:xfrm>
            <a:off x="374716" y="3837572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Nykaa Cosmetics, Kay Beauty, Dot &amp; Key, Nykd, 20 Dresses</a:t>
            </a:r>
            <a:endParaRPr lang="en-US" dirty="0"/>
          </a:p>
        </p:txBody>
      </p:sp>
      <p:sp>
        <p:nvSpPr>
          <p:cNvPr id="80" name="Text 16"/>
          <p:cNvSpPr/>
          <p:nvPr/>
        </p:nvSpPr>
        <p:spPr>
          <a:xfrm>
            <a:off x="6874750" y="380041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FY25 Revenue: ₹2,062 Cr (↑24% YoY)</a:t>
            </a:r>
            <a:endParaRPr lang="en-US" dirty="0"/>
          </a:p>
        </p:txBody>
      </p:sp>
      <p:sp>
        <p:nvSpPr>
          <p:cNvPr id="81" name="Text 20"/>
          <p:cNvSpPr/>
          <p:nvPr/>
        </p:nvSpPr>
        <p:spPr>
          <a:xfrm>
            <a:off x="374716" y="557342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100% authentic, curated content, influencer-led discovery</a:t>
            </a:r>
            <a:endParaRPr lang="en-US" dirty="0"/>
          </a:p>
        </p:txBody>
      </p:sp>
      <p:sp>
        <p:nvSpPr>
          <p:cNvPr id="82" name="Text 24"/>
          <p:cNvSpPr/>
          <p:nvPr/>
        </p:nvSpPr>
        <p:spPr>
          <a:xfrm>
            <a:off x="6673708" y="557342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Nykaa TV, Nykaa Network, 40M+ loyal customers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7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6175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Business Model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47440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363033" y="905012"/>
            <a:ext cx="13073063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Nykaa employs a powerful </a:t>
            </a: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hybrid business model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that combines the control of an inventory-led approach with the scalability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of a marketplace. This unique synergy ensures product authenticity, broad selection, and seamless customer experience.</a:t>
            </a:r>
            <a:endParaRPr lang="en-US" dirty="0"/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260929847"/>
              </p:ext>
            </p:extLst>
          </p:nvPr>
        </p:nvGraphicFramePr>
        <p:xfrm>
          <a:off x="3398982" y="2262139"/>
          <a:ext cx="5394036" cy="3307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10152928"/>
              </p:ext>
            </p:extLst>
          </p:nvPr>
        </p:nvGraphicFramePr>
        <p:xfrm>
          <a:off x="338630" y="1973003"/>
          <a:ext cx="11514739" cy="4478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Oval 12"/>
          <p:cNvSpPr/>
          <p:nvPr/>
        </p:nvSpPr>
        <p:spPr>
          <a:xfrm>
            <a:off x="5441235" y="3595978"/>
            <a:ext cx="1309530" cy="1232240"/>
          </a:xfrm>
          <a:prstGeom prst="ellipse">
            <a:avLst/>
          </a:prstGeom>
          <a:solidFill>
            <a:srgbClr val="FB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 2"/>
          <p:cNvSpPr/>
          <p:nvPr/>
        </p:nvSpPr>
        <p:spPr>
          <a:xfrm>
            <a:off x="339671" y="1877012"/>
            <a:ext cx="3059311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Inventory Model</a:t>
            </a:r>
            <a:endParaRPr lang="en-US" sz="2000" dirty="0"/>
          </a:p>
        </p:txBody>
      </p:sp>
      <p:sp>
        <p:nvSpPr>
          <p:cNvPr id="17" name="Text 5"/>
          <p:cNvSpPr/>
          <p:nvPr/>
        </p:nvSpPr>
        <p:spPr>
          <a:xfrm>
            <a:off x="8793018" y="1877012"/>
            <a:ext cx="3059311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Marketplace Model</a:t>
            </a:r>
            <a:endParaRPr lang="en-US" sz="2000" dirty="0"/>
          </a:p>
        </p:txBody>
      </p:sp>
      <p:sp>
        <p:nvSpPr>
          <p:cNvPr id="18" name="Text 8"/>
          <p:cNvSpPr/>
          <p:nvPr/>
        </p:nvSpPr>
        <p:spPr>
          <a:xfrm>
            <a:off x="9066842" y="4377098"/>
            <a:ext cx="3059311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Private Labels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621652" y="4376948"/>
            <a:ext cx="3145274" cy="38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Omnichannel Strategy</a:t>
            </a:r>
            <a:endParaRPr lang="en-US" sz="2000" dirty="0"/>
          </a:p>
        </p:txBody>
      </p:sp>
      <p:sp>
        <p:nvSpPr>
          <p:cNvPr id="20" name="Text 3"/>
          <p:cNvSpPr/>
          <p:nvPr/>
        </p:nvSpPr>
        <p:spPr>
          <a:xfrm>
            <a:off x="536918" y="2300377"/>
            <a:ext cx="3915013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Direct brand sourcing ensures quality and authenticity.</a:t>
            </a:r>
            <a:endParaRPr lang="en-US" dirty="0"/>
          </a:p>
        </p:txBody>
      </p:sp>
      <p:sp>
        <p:nvSpPr>
          <p:cNvPr id="21" name="Text 6"/>
          <p:cNvSpPr/>
          <p:nvPr/>
        </p:nvSpPr>
        <p:spPr>
          <a:xfrm>
            <a:off x="7740069" y="2363574"/>
            <a:ext cx="3915013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Third-party sellers expand range, reduce inventory costs.</a:t>
            </a:r>
            <a:endParaRPr lang="en-US" dirty="0"/>
          </a:p>
        </p:txBody>
      </p:sp>
      <p:sp>
        <p:nvSpPr>
          <p:cNvPr id="22" name="Text 9"/>
          <p:cNvSpPr/>
          <p:nvPr/>
        </p:nvSpPr>
        <p:spPr>
          <a:xfrm>
            <a:off x="8093220" y="4808455"/>
            <a:ext cx="3915013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High-margin, exclusive in-house brands.</a:t>
            </a:r>
            <a:endParaRPr lang="en-US" dirty="0"/>
          </a:p>
        </p:txBody>
      </p:sp>
      <p:sp>
        <p:nvSpPr>
          <p:cNvPr id="23" name="Text 12"/>
          <p:cNvSpPr/>
          <p:nvPr/>
        </p:nvSpPr>
        <p:spPr>
          <a:xfrm>
            <a:off x="415143" y="4808455"/>
            <a:ext cx="3915013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Seamless online and offline shopping experience.</a:t>
            </a: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8294" y="4330503"/>
            <a:ext cx="334710" cy="418387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7028" y="1860928"/>
            <a:ext cx="320851" cy="374425"/>
          </a:xfrm>
          <a:prstGeom prst="rect">
            <a:avLst/>
          </a:prstGeom>
        </p:spPr>
      </p:pic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527" y="4324429"/>
            <a:ext cx="328992" cy="411239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7948" y="1803414"/>
            <a:ext cx="359142" cy="44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6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Market Position &amp; Growth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Shape 1"/>
          <p:cNvSpPr/>
          <p:nvPr/>
        </p:nvSpPr>
        <p:spPr>
          <a:xfrm>
            <a:off x="636771" y="1459526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8"/>
          <p:cNvSpPr/>
          <p:nvPr/>
        </p:nvSpPr>
        <p:spPr>
          <a:xfrm>
            <a:off x="2171007" y="1169698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"/>
          <p:cNvSpPr/>
          <p:nvPr/>
        </p:nvSpPr>
        <p:spPr>
          <a:xfrm>
            <a:off x="6340225" y="145574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1"/>
          <p:cNvSpPr/>
          <p:nvPr/>
        </p:nvSpPr>
        <p:spPr>
          <a:xfrm>
            <a:off x="650624" y="311563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1"/>
          <p:cNvSpPr/>
          <p:nvPr/>
        </p:nvSpPr>
        <p:spPr>
          <a:xfrm>
            <a:off x="650624" y="4819214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1"/>
          <p:cNvSpPr/>
          <p:nvPr/>
        </p:nvSpPr>
        <p:spPr>
          <a:xfrm>
            <a:off x="6340224" y="3113553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1"/>
          <p:cNvSpPr/>
          <p:nvPr/>
        </p:nvSpPr>
        <p:spPr>
          <a:xfrm>
            <a:off x="6340224" y="4819214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18"/>
          <p:cNvSpPr/>
          <p:nvPr/>
        </p:nvSpPr>
        <p:spPr>
          <a:xfrm>
            <a:off x="2152784" y="282123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18"/>
          <p:cNvSpPr/>
          <p:nvPr/>
        </p:nvSpPr>
        <p:spPr>
          <a:xfrm>
            <a:off x="2165529" y="454975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18"/>
          <p:cNvSpPr/>
          <p:nvPr/>
        </p:nvSpPr>
        <p:spPr>
          <a:xfrm>
            <a:off x="8145556" y="1167203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18"/>
          <p:cNvSpPr/>
          <p:nvPr/>
        </p:nvSpPr>
        <p:spPr>
          <a:xfrm>
            <a:off x="8145556" y="280761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18"/>
          <p:cNvSpPr/>
          <p:nvPr/>
        </p:nvSpPr>
        <p:spPr>
          <a:xfrm>
            <a:off x="8145556" y="452689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"/>
          <p:cNvSpPr/>
          <p:nvPr/>
        </p:nvSpPr>
        <p:spPr>
          <a:xfrm>
            <a:off x="1478306" y="1824506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#1 Beauty Platform</a:t>
            </a:r>
            <a:endParaRPr lang="en-US" sz="2000" dirty="0"/>
          </a:p>
        </p:txBody>
      </p:sp>
      <p:sp>
        <p:nvSpPr>
          <p:cNvPr id="69" name="Text 11"/>
          <p:cNvSpPr/>
          <p:nvPr/>
        </p:nvSpPr>
        <p:spPr>
          <a:xfrm>
            <a:off x="1504767" y="3461271"/>
            <a:ext cx="3013472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Public &amp; Profitable</a:t>
            </a:r>
            <a:endParaRPr lang="en-US" sz="2000" dirty="0"/>
          </a:p>
        </p:txBody>
      </p:sp>
      <p:sp>
        <p:nvSpPr>
          <p:cNvPr id="71" name="Text 7"/>
          <p:cNvSpPr/>
          <p:nvPr/>
        </p:nvSpPr>
        <p:spPr>
          <a:xfrm>
            <a:off x="7332397" y="1821547"/>
            <a:ext cx="277165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Global Brand Gateway</a:t>
            </a:r>
            <a:endParaRPr lang="en-US" sz="2000" dirty="0"/>
          </a:p>
        </p:txBody>
      </p:sp>
      <p:sp>
        <p:nvSpPr>
          <p:cNvPr id="73" name="Text 15"/>
          <p:cNvSpPr/>
          <p:nvPr/>
        </p:nvSpPr>
        <p:spPr>
          <a:xfrm>
            <a:off x="7322756" y="3460408"/>
            <a:ext cx="273950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Diverse Brand Portfolio</a:t>
            </a:r>
            <a:endParaRPr lang="en-US" sz="2000" dirty="0"/>
          </a:p>
        </p:txBody>
      </p:sp>
      <p:sp>
        <p:nvSpPr>
          <p:cNvPr id="74" name="Text 23"/>
          <p:cNvSpPr/>
          <p:nvPr/>
        </p:nvSpPr>
        <p:spPr>
          <a:xfrm>
            <a:off x="6463787" y="5202866"/>
            <a:ext cx="273950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Expanding Customer Base &amp; Competitive Edge</a:t>
            </a:r>
            <a:endParaRPr lang="en-US" sz="2000" dirty="0"/>
          </a:p>
        </p:txBody>
      </p:sp>
      <p:sp>
        <p:nvSpPr>
          <p:cNvPr id="75" name="Text 19"/>
          <p:cNvSpPr/>
          <p:nvPr/>
        </p:nvSpPr>
        <p:spPr>
          <a:xfrm>
            <a:off x="839775" y="5203870"/>
            <a:ext cx="340447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</a:rPr>
              <a:t>Trailblazer &amp; </a:t>
            </a: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Omni-channel</a:t>
            </a: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</a:rPr>
              <a:t> Leader</a:t>
            </a:r>
            <a:endParaRPr lang="en-US" sz="2000" dirty="0"/>
          </a:p>
        </p:txBody>
      </p:sp>
      <p:pic>
        <p:nvPicPr>
          <p:cNvPr id="76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628" y="4629618"/>
            <a:ext cx="339929" cy="424910"/>
          </a:xfrm>
          <a:prstGeom prst="rect">
            <a:avLst/>
          </a:prstGeom>
        </p:spPr>
      </p:pic>
      <p:sp>
        <p:nvSpPr>
          <p:cNvPr id="77" name="Text 4"/>
          <p:cNvSpPr/>
          <p:nvPr/>
        </p:nvSpPr>
        <p:spPr>
          <a:xfrm>
            <a:off x="909242" y="2190685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~30% share in Indian online beauty retail.</a:t>
            </a:r>
            <a:endParaRPr lang="en-US" dirty="0"/>
          </a:p>
        </p:txBody>
      </p:sp>
      <p:sp>
        <p:nvSpPr>
          <p:cNvPr id="78" name="Text 8"/>
          <p:cNvSpPr/>
          <p:nvPr/>
        </p:nvSpPr>
        <p:spPr>
          <a:xfrm>
            <a:off x="5702290" y="2171039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Trusted partner for international launches </a:t>
            </a:r>
          </a:p>
          <a:p>
            <a:pPr algn="ctr"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(NARS, YSL, Chanel).</a:t>
            </a:r>
            <a:endParaRPr lang="en-US" dirty="0"/>
          </a:p>
        </p:txBody>
      </p:sp>
      <p:sp>
        <p:nvSpPr>
          <p:cNvPr id="79" name="Text 12"/>
          <p:cNvSpPr/>
          <p:nvPr/>
        </p:nvSpPr>
        <p:spPr>
          <a:xfrm>
            <a:off x="910438" y="3837572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₹57,400 Cr market cap (July 2025).</a:t>
            </a:r>
            <a:endParaRPr lang="en-US" dirty="0"/>
          </a:p>
        </p:txBody>
      </p:sp>
      <p:sp>
        <p:nvSpPr>
          <p:cNvPr id="80" name="Text 16"/>
          <p:cNvSpPr/>
          <p:nvPr/>
        </p:nvSpPr>
        <p:spPr>
          <a:xfrm>
            <a:off x="6957874" y="380041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8,600+ brands including in-house hits.</a:t>
            </a:r>
            <a:endParaRPr lang="en-US" dirty="0"/>
          </a:p>
        </p:txBody>
      </p:sp>
      <p:sp>
        <p:nvSpPr>
          <p:cNvPr id="81" name="Text 20"/>
          <p:cNvSpPr/>
          <p:nvPr/>
        </p:nvSpPr>
        <p:spPr>
          <a:xfrm>
            <a:off x="-124028" y="557342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First Indian unicorn led by a woman (</a:t>
            </a:r>
            <a:r>
              <a:rPr lang="en-US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Falguni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Nayar</a:t>
            </a: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).</a:t>
            </a:r>
          </a:p>
          <a:p>
            <a:pPr algn="ctr"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237 stores, 79 cities, strong app/web.</a:t>
            </a:r>
            <a:endParaRPr lang="en-US" dirty="0"/>
          </a:p>
          <a:p>
            <a:pPr algn="ctr">
              <a:lnSpc>
                <a:spcPts val="2650"/>
              </a:lnSpc>
            </a:pPr>
            <a:endParaRPr lang="en-US" dirty="0"/>
          </a:p>
        </p:txBody>
      </p:sp>
      <p:sp>
        <p:nvSpPr>
          <p:cNvPr id="82" name="Text 24"/>
          <p:cNvSpPr/>
          <p:nvPr/>
        </p:nvSpPr>
        <p:spPr>
          <a:xfrm>
            <a:off x="5528418" y="557342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42M+ customers, ↑28% YoY.</a:t>
            </a:r>
          </a:p>
          <a:p>
            <a:pPr algn="ctr">
              <a:lnSpc>
                <a:spcPts val="2650"/>
              </a:lnSpc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Outperforming Amazon, Flipkart, and AJIO.</a:t>
            </a:r>
            <a:endParaRPr lang="en-US" dirty="0"/>
          </a:p>
          <a:p>
            <a:pPr algn="ctr">
              <a:lnSpc>
                <a:spcPts val="2650"/>
              </a:lnSpc>
            </a:pPr>
            <a:endParaRPr lang="en-US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945" y="1219730"/>
            <a:ext cx="442508" cy="553098"/>
          </a:xfrm>
          <a:prstGeom prst="rect">
            <a:avLst/>
          </a:prstGeom>
        </p:spPr>
      </p:pic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679" y="2856273"/>
            <a:ext cx="456928" cy="571121"/>
          </a:xfrm>
          <a:prstGeom prst="rect">
            <a:avLst/>
          </a:prstGeom>
        </p:spPr>
      </p:pic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9233" y="4594603"/>
            <a:ext cx="402831" cy="503505"/>
          </a:xfrm>
          <a:prstGeom prst="rect">
            <a:avLst/>
          </a:prstGeom>
        </p:spPr>
      </p:pic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693" y="1222968"/>
            <a:ext cx="437915" cy="547357"/>
          </a:xfrm>
          <a:prstGeom prst="rect">
            <a:avLst/>
          </a:prstGeom>
        </p:spPr>
      </p:pic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628" y="2897693"/>
            <a:ext cx="368015" cy="45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9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Market Position &amp; Growth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t="2440" b="-1"/>
          <a:stretch/>
        </p:blipFill>
        <p:spPr>
          <a:xfrm>
            <a:off x="2062154" y="4292110"/>
            <a:ext cx="8067692" cy="237565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341745" y="3848812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FY2025 Performance Snapshot</a:t>
            </a:r>
            <a:endParaRPr lang="en-US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154" y="1350543"/>
            <a:ext cx="7992292" cy="23751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341746" y="941931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Q4 FY2025 Performance Snapshot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593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Market Position &amp; Growth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 3"/>
          <p:cNvSpPr/>
          <p:nvPr/>
        </p:nvSpPr>
        <p:spPr>
          <a:xfrm>
            <a:off x="366330" y="954943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u="sng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Business Highlights</a:t>
            </a:r>
            <a:endParaRPr lang="en-US" sz="2000" u="sng" dirty="0"/>
          </a:p>
        </p:txBody>
      </p:sp>
      <p:sp>
        <p:nvSpPr>
          <p:cNvPr id="16" name="Text 3"/>
          <p:cNvSpPr/>
          <p:nvPr/>
        </p:nvSpPr>
        <p:spPr>
          <a:xfrm>
            <a:off x="366330" y="3410368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u="sng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Strategic Initiatives</a:t>
            </a:r>
            <a:endParaRPr lang="en-US" sz="2000" u="sng" dirty="0"/>
          </a:p>
        </p:txBody>
      </p:sp>
      <p:sp>
        <p:nvSpPr>
          <p:cNvPr id="30" name="Text 3"/>
          <p:cNvSpPr/>
          <p:nvPr/>
        </p:nvSpPr>
        <p:spPr>
          <a:xfrm>
            <a:off x="3652682" y="4399430"/>
            <a:ext cx="1754421" cy="27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b="1" dirty="0">
                <a:solidFill>
                  <a:srgbClr val="FF6699"/>
                </a:solidFill>
                <a:ea typeface="Petrona Bold" pitchFamily="34" charset="-122"/>
                <a:cs typeface="Petrona Bold" pitchFamily="34" charset="-120"/>
              </a:rPr>
              <a:t>800+ Brands</a:t>
            </a:r>
            <a:endParaRPr lang="en-US" sz="2400" dirty="0">
              <a:solidFill>
                <a:srgbClr val="FF6699"/>
              </a:solidFill>
            </a:endParaRPr>
          </a:p>
        </p:txBody>
      </p:sp>
      <p:sp>
        <p:nvSpPr>
          <p:cNvPr id="31" name="Text 4"/>
          <p:cNvSpPr/>
          <p:nvPr/>
        </p:nvSpPr>
        <p:spPr>
          <a:xfrm>
            <a:off x="3532612" y="4761593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Brand Launchpad</a:t>
            </a:r>
            <a:endParaRPr lang="en-US" b="1" dirty="0"/>
          </a:p>
        </p:txBody>
      </p:sp>
      <p:sp>
        <p:nvSpPr>
          <p:cNvPr id="32" name="Text 17"/>
          <p:cNvSpPr/>
          <p:nvPr/>
        </p:nvSpPr>
        <p:spPr>
          <a:xfrm>
            <a:off x="3052698" y="5181005"/>
            <a:ext cx="2613403" cy="301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Over 800 new brands launched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 FY25,  including premium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international names</a:t>
            </a:r>
            <a:endParaRPr lang="en-US" sz="1600" dirty="0"/>
          </a:p>
        </p:txBody>
      </p:sp>
      <p:sp>
        <p:nvSpPr>
          <p:cNvPr id="35" name="Text 17"/>
          <p:cNvSpPr/>
          <p:nvPr/>
        </p:nvSpPr>
        <p:spPr>
          <a:xfrm>
            <a:off x="38565" y="5180360"/>
            <a:ext cx="2613403" cy="301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50+ new stores added in FY25, 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resulting in a 45% increase in 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retail space</a:t>
            </a:r>
            <a:endParaRPr lang="en-US" sz="1600" dirty="0"/>
          </a:p>
        </p:txBody>
      </p:sp>
      <p:sp>
        <p:nvSpPr>
          <p:cNvPr id="36" name="Text 3"/>
          <p:cNvSpPr/>
          <p:nvPr/>
        </p:nvSpPr>
        <p:spPr>
          <a:xfrm>
            <a:off x="616423" y="4404930"/>
            <a:ext cx="1754421" cy="27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b="1" dirty="0">
                <a:solidFill>
                  <a:srgbClr val="FF6699"/>
                </a:solidFill>
                <a:ea typeface="Petrona Bold" pitchFamily="34" charset="-122"/>
                <a:cs typeface="Petrona Bold" pitchFamily="34" charset="-120"/>
              </a:rPr>
              <a:t>+50 stores</a:t>
            </a:r>
            <a:endParaRPr lang="en-US" sz="2400" dirty="0">
              <a:solidFill>
                <a:srgbClr val="FF6699"/>
              </a:solidFill>
            </a:endParaRPr>
          </a:p>
        </p:txBody>
      </p:sp>
      <p:sp>
        <p:nvSpPr>
          <p:cNvPr id="37" name="Text 4"/>
          <p:cNvSpPr/>
          <p:nvPr/>
        </p:nvSpPr>
        <p:spPr>
          <a:xfrm>
            <a:off x="560966" y="4761593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Retail Expansion</a:t>
            </a:r>
            <a:endParaRPr lang="en-US" b="1" dirty="0"/>
          </a:p>
        </p:txBody>
      </p:sp>
      <p:sp>
        <p:nvSpPr>
          <p:cNvPr id="40" name="Text 3"/>
          <p:cNvSpPr/>
          <p:nvPr/>
        </p:nvSpPr>
        <p:spPr>
          <a:xfrm>
            <a:off x="9923245" y="4399430"/>
            <a:ext cx="1754421" cy="27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b="1" dirty="0">
                <a:solidFill>
                  <a:srgbClr val="FF6699"/>
                </a:solidFill>
                <a:ea typeface="Petrona Bold" pitchFamily="34" charset="-122"/>
              </a:rPr>
              <a:t>Profitable</a:t>
            </a:r>
            <a:endParaRPr lang="en-US" sz="2400" dirty="0">
              <a:solidFill>
                <a:srgbClr val="FF6699"/>
              </a:solidFill>
            </a:endParaRPr>
          </a:p>
        </p:txBody>
      </p:sp>
      <p:sp>
        <p:nvSpPr>
          <p:cNvPr id="41" name="Text 4"/>
          <p:cNvSpPr/>
          <p:nvPr/>
        </p:nvSpPr>
        <p:spPr>
          <a:xfrm>
            <a:off x="9774700" y="4847277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US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Private Label Momentum</a:t>
            </a:r>
            <a:endParaRPr lang="en-US" b="1" dirty="0"/>
          </a:p>
        </p:txBody>
      </p:sp>
      <p:sp>
        <p:nvSpPr>
          <p:cNvPr id="42" name="Text 17"/>
          <p:cNvSpPr/>
          <p:nvPr/>
        </p:nvSpPr>
        <p:spPr>
          <a:xfrm>
            <a:off x="9400628" y="5180360"/>
            <a:ext cx="2613403" cy="301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In-house brands like Kay Beauty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and Nykaa Cosmetics fueling loyalty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and profitability</a:t>
            </a:r>
            <a:endParaRPr lang="en-US" sz="1600" dirty="0"/>
          </a:p>
        </p:txBody>
      </p:sp>
      <p:sp>
        <p:nvSpPr>
          <p:cNvPr id="43" name="Text 17"/>
          <p:cNvSpPr/>
          <p:nvPr/>
        </p:nvSpPr>
        <p:spPr>
          <a:xfrm>
            <a:off x="6167590" y="5180360"/>
            <a:ext cx="2613403" cy="301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Integrated app, website, and  200+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Stores to offer seamless  Shopping &amp;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high retention</a:t>
            </a:r>
            <a:endParaRPr lang="en-US" sz="1600" dirty="0"/>
          </a:p>
        </p:txBody>
      </p:sp>
      <p:sp>
        <p:nvSpPr>
          <p:cNvPr id="44" name="Text 3"/>
          <p:cNvSpPr/>
          <p:nvPr/>
        </p:nvSpPr>
        <p:spPr>
          <a:xfrm>
            <a:off x="6780406" y="4399430"/>
            <a:ext cx="1754421" cy="27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b="1" dirty="0">
                <a:solidFill>
                  <a:srgbClr val="FF6699"/>
                </a:solidFill>
                <a:ea typeface="Petrona Bold" pitchFamily="34" charset="-122"/>
                <a:cs typeface="Petrona Bold" pitchFamily="34" charset="-120"/>
              </a:rPr>
              <a:t>Seamless</a:t>
            </a:r>
            <a:endParaRPr lang="en-US" sz="2400" dirty="0">
              <a:solidFill>
                <a:srgbClr val="FF6699"/>
              </a:solidFill>
            </a:endParaRPr>
          </a:p>
        </p:txBody>
      </p:sp>
      <p:sp>
        <p:nvSpPr>
          <p:cNvPr id="45" name="Text 4"/>
          <p:cNvSpPr/>
          <p:nvPr/>
        </p:nvSpPr>
        <p:spPr>
          <a:xfrm>
            <a:off x="6541663" y="4845707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US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Omni-channel Excellence</a:t>
            </a:r>
            <a:endParaRPr lang="en-US" b="1" dirty="0"/>
          </a:p>
        </p:txBody>
      </p:sp>
      <p:sp>
        <p:nvSpPr>
          <p:cNvPr id="46" name="Text 3"/>
          <p:cNvSpPr/>
          <p:nvPr/>
        </p:nvSpPr>
        <p:spPr>
          <a:xfrm>
            <a:off x="3455586" y="1528806"/>
            <a:ext cx="1333856" cy="27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b="1" dirty="0">
                <a:solidFill>
                  <a:srgbClr val="FF6699"/>
                </a:solidFill>
                <a:ea typeface="Petrona Bold" pitchFamily="34" charset="-122"/>
                <a:cs typeface="Petrona Bold" pitchFamily="34" charset="-120"/>
              </a:rPr>
              <a:t>↑ 110% YoY</a:t>
            </a:r>
            <a:endParaRPr lang="en-US" sz="2400" dirty="0">
              <a:solidFill>
                <a:srgbClr val="FF6699"/>
              </a:solidFill>
            </a:endParaRPr>
          </a:p>
          <a:p>
            <a:pPr>
              <a:lnSpc>
                <a:spcPts val="2650"/>
              </a:lnSpc>
            </a:pPr>
            <a:endParaRPr lang="en-US" sz="2400" dirty="0">
              <a:solidFill>
                <a:srgbClr val="FF6699"/>
              </a:solidFill>
            </a:endParaRPr>
          </a:p>
        </p:txBody>
      </p:sp>
      <p:sp>
        <p:nvSpPr>
          <p:cNvPr id="47" name="Text 4"/>
          <p:cNvSpPr/>
          <p:nvPr/>
        </p:nvSpPr>
        <p:spPr>
          <a:xfrm>
            <a:off x="3371418" y="1933769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US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Profitability Boost</a:t>
            </a:r>
            <a:endParaRPr lang="en-US" dirty="0"/>
          </a:p>
        </p:txBody>
      </p:sp>
      <p:sp>
        <p:nvSpPr>
          <p:cNvPr id="48" name="Text 17"/>
          <p:cNvSpPr/>
          <p:nvPr/>
        </p:nvSpPr>
        <p:spPr>
          <a:xfrm>
            <a:off x="3114367" y="2284387"/>
            <a:ext cx="2613403" cy="301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Net profit rose 110% YoY in Q4,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backed by margin improvement</a:t>
            </a:r>
            <a:endParaRPr lang="en-US" sz="1600" dirty="0"/>
          </a:p>
        </p:txBody>
      </p:sp>
      <p:sp>
        <p:nvSpPr>
          <p:cNvPr id="49" name="Text 17"/>
          <p:cNvSpPr/>
          <p:nvPr/>
        </p:nvSpPr>
        <p:spPr>
          <a:xfrm>
            <a:off x="153054" y="2293277"/>
            <a:ext cx="2613403" cy="301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Total revenue for FY25, reflecting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strong double-digit growth</a:t>
            </a:r>
            <a:endParaRPr lang="en-US" sz="1600" dirty="0"/>
          </a:p>
        </p:txBody>
      </p:sp>
      <p:sp>
        <p:nvSpPr>
          <p:cNvPr id="50" name="Text 3"/>
          <p:cNvSpPr/>
          <p:nvPr/>
        </p:nvSpPr>
        <p:spPr>
          <a:xfrm>
            <a:off x="616423" y="1529579"/>
            <a:ext cx="1075971" cy="363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b="1" dirty="0">
                <a:solidFill>
                  <a:srgbClr val="FF6699"/>
                </a:solidFill>
                <a:ea typeface="Petrona Bold" pitchFamily="34" charset="-122"/>
                <a:cs typeface="Petrona Bold" pitchFamily="34" charset="-120"/>
              </a:rPr>
              <a:t>₹7,950 Cr</a:t>
            </a:r>
            <a:endParaRPr lang="en-US" sz="2400" dirty="0">
              <a:solidFill>
                <a:srgbClr val="FF6699"/>
              </a:solidFill>
            </a:endParaRPr>
          </a:p>
          <a:p>
            <a:pPr>
              <a:lnSpc>
                <a:spcPts val="2650"/>
              </a:lnSpc>
            </a:pPr>
            <a:endParaRPr lang="en-US" sz="2400" dirty="0">
              <a:solidFill>
                <a:srgbClr val="FF6699"/>
              </a:solidFill>
            </a:endParaRPr>
          </a:p>
        </p:txBody>
      </p:sp>
      <p:sp>
        <p:nvSpPr>
          <p:cNvPr id="51" name="Text 4"/>
          <p:cNvSpPr/>
          <p:nvPr/>
        </p:nvSpPr>
        <p:spPr>
          <a:xfrm>
            <a:off x="366330" y="1933769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US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Revenue Growth</a:t>
            </a:r>
            <a:endParaRPr lang="en-US" dirty="0"/>
          </a:p>
        </p:txBody>
      </p:sp>
      <p:sp>
        <p:nvSpPr>
          <p:cNvPr id="52" name="Text 3"/>
          <p:cNvSpPr/>
          <p:nvPr/>
        </p:nvSpPr>
        <p:spPr>
          <a:xfrm>
            <a:off x="9641752" y="1533286"/>
            <a:ext cx="1754421" cy="27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en-US" sz="2400" b="1" dirty="0">
                <a:solidFill>
                  <a:srgbClr val="FF6699"/>
                </a:solidFill>
                <a:ea typeface="Petrona Bold" pitchFamily="34" charset="-122"/>
                <a:cs typeface="Petrona Bold" pitchFamily="34" charset="-120"/>
              </a:rPr>
              <a:t>↑18% Q4 GMV</a:t>
            </a:r>
            <a:endParaRPr lang="en-US" sz="2400" dirty="0">
              <a:solidFill>
                <a:srgbClr val="FF6699"/>
              </a:solidFill>
            </a:endParaRPr>
          </a:p>
        </p:txBody>
      </p:sp>
      <p:sp>
        <p:nvSpPr>
          <p:cNvPr id="53" name="Text 4"/>
          <p:cNvSpPr/>
          <p:nvPr/>
        </p:nvSpPr>
        <p:spPr>
          <a:xfrm>
            <a:off x="9586333" y="1930691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US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Fashion Recovery</a:t>
            </a:r>
            <a:endParaRPr lang="en-US" dirty="0"/>
          </a:p>
        </p:txBody>
      </p:sp>
      <p:sp>
        <p:nvSpPr>
          <p:cNvPr id="54" name="Text 17"/>
          <p:cNvSpPr/>
          <p:nvPr/>
        </p:nvSpPr>
        <p:spPr>
          <a:xfrm>
            <a:off x="9400628" y="2273751"/>
            <a:ext cx="2613403" cy="301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Fashion GMV grew 18% in Q4,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aided by cost controls narrowing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EBITDA losses</a:t>
            </a:r>
            <a:endParaRPr lang="en-US" sz="1600" dirty="0"/>
          </a:p>
        </p:txBody>
      </p:sp>
      <p:sp>
        <p:nvSpPr>
          <p:cNvPr id="55" name="Text 17"/>
          <p:cNvSpPr/>
          <p:nvPr/>
        </p:nvSpPr>
        <p:spPr>
          <a:xfrm>
            <a:off x="6364231" y="2260711"/>
            <a:ext cx="2613403" cy="301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Beauty contributed 92% of 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total  revenue, with 25%+ growth</a:t>
            </a:r>
          </a:p>
          <a:p>
            <a:pPr algn="ctr">
              <a:lnSpc>
                <a:spcPts val="1700"/>
              </a:lnSpc>
            </a:pP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from e-commerce &amp; in-house brands</a:t>
            </a:r>
            <a:endParaRPr lang="en-US" sz="1600" dirty="0"/>
          </a:p>
        </p:txBody>
      </p:sp>
      <p:sp>
        <p:nvSpPr>
          <p:cNvPr id="56" name="Text 3"/>
          <p:cNvSpPr/>
          <p:nvPr/>
        </p:nvSpPr>
        <p:spPr>
          <a:xfrm>
            <a:off x="6536353" y="1523906"/>
            <a:ext cx="1754421" cy="274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400" b="1" dirty="0">
                <a:solidFill>
                  <a:srgbClr val="FF6699"/>
                </a:solidFill>
                <a:ea typeface="Petrona Bold" pitchFamily="34" charset="-122"/>
                <a:cs typeface="Petrona Bold" pitchFamily="34" charset="-120"/>
              </a:rPr>
              <a:t>92% of Revenue</a:t>
            </a:r>
            <a:endParaRPr lang="en-US" sz="2400" dirty="0">
              <a:solidFill>
                <a:srgbClr val="FF6699"/>
              </a:solidFill>
            </a:endParaRPr>
          </a:p>
          <a:p>
            <a:pPr>
              <a:lnSpc>
                <a:spcPts val="2650"/>
              </a:lnSpc>
            </a:pPr>
            <a:endParaRPr lang="en-US" sz="2400" dirty="0">
              <a:solidFill>
                <a:srgbClr val="FF6699"/>
              </a:solidFill>
            </a:endParaRPr>
          </a:p>
        </p:txBody>
      </p:sp>
      <p:sp>
        <p:nvSpPr>
          <p:cNvPr id="57" name="Text 4"/>
          <p:cNvSpPr/>
          <p:nvPr/>
        </p:nvSpPr>
        <p:spPr>
          <a:xfrm>
            <a:off x="6669569" y="1890319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US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Beauty Vertical Dominance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51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ounded Rectangle 67"/>
          <p:cNvSpPr/>
          <p:nvPr/>
        </p:nvSpPr>
        <p:spPr>
          <a:xfrm>
            <a:off x="255640" y="2886614"/>
            <a:ext cx="2538045" cy="1772712"/>
          </a:xfrm>
          <a:prstGeom prst="roundRect">
            <a:avLst/>
          </a:prstGeom>
          <a:solidFill>
            <a:srgbClr val="FFE1F5"/>
          </a:solidFill>
          <a:ln>
            <a:noFill/>
          </a:ln>
          <a:effectLst>
            <a:softEdge rad="127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ounded Rectangle 68"/>
          <p:cNvSpPr/>
          <p:nvPr/>
        </p:nvSpPr>
        <p:spPr>
          <a:xfrm>
            <a:off x="302067" y="4926538"/>
            <a:ext cx="2538045" cy="1772712"/>
          </a:xfrm>
          <a:prstGeom prst="roundRect">
            <a:avLst/>
          </a:prstGeom>
          <a:solidFill>
            <a:srgbClr val="FFE1F5"/>
          </a:solidFill>
          <a:ln>
            <a:noFill/>
          </a:ln>
          <a:effectLst>
            <a:softEdge rad="127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ounded Rectangle 69"/>
          <p:cNvSpPr/>
          <p:nvPr/>
        </p:nvSpPr>
        <p:spPr>
          <a:xfrm>
            <a:off x="3234729" y="2876454"/>
            <a:ext cx="2538045" cy="1772712"/>
          </a:xfrm>
          <a:prstGeom prst="roundRect">
            <a:avLst/>
          </a:prstGeom>
          <a:solidFill>
            <a:srgbClr val="FFE1F5"/>
          </a:solidFill>
          <a:ln>
            <a:noFill/>
          </a:ln>
          <a:effectLst>
            <a:softEdge rad="127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ounded Rectangle 70"/>
          <p:cNvSpPr/>
          <p:nvPr/>
        </p:nvSpPr>
        <p:spPr>
          <a:xfrm>
            <a:off x="3275813" y="4886617"/>
            <a:ext cx="2538045" cy="1772712"/>
          </a:xfrm>
          <a:prstGeom prst="roundRect">
            <a:avLst/>
          </a:prstGeom>
          <a:solidFill>
            <a:srgbClr val="FFE1F5"/>
          </a:solidFill>
          <a:ln>
            <a:noFill/>
          </a:ln>
          <a:effectLst>
            <a:softEdge rad="127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ounded Rectangle 71"/>
          <p:cNvSpPr/>
          <p:nvPr/>
        </p:nvSpPr>
        <p:spPr>
          <a:xfrm>
            <a:off x="6408685" y="2876454"/>
            <a:ext cx="2538045" cy="1772712"/>
          </a:xfrm>
          <a:prstGeom prst="roundRect">
            <a:avLst/>
          </a:prstGeom>
          <a:solidFill>
            <a:srgbClr val="FFE1F5"/>
          </a:solidFill>
          <a:ln>
            <a:noFill/>
          </a:ln>
          <a:effectLst>
            <a:softEdge rad="127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ounded Rectangle 72"/>
          <p:cNvSpPr/>
          <p:nvPr/>
        </p:nvSpPr>
        <p:spPr>
          <a:xfrm>
            <a:off x="6483895" y="4882206"/>
            <a:ext cx="2538045" cy="1772712"/>
          </a:xfrm>
          <a:prstGeom prst="roundRect">
            <a:avLst/>
          </a:prstGeom>
          <a:solidFill>
            <a:srgbClr val="FFE1F5"/>
          </a:solidFill>
          <a:ln>
            <a:noFill/>
          </a:ln>
          <a:effectLst>
            <a:softEdge rad="127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ounded Rectangle 73"/>
          <p:cNvSpPr/>
          <p:nvPr/>
        </p:nvSpPr>
        <p:spPr>
          <a:xfrm>
            <a:off x="9450198" y="2891048"/>
            <a:ext cx="2538045" cy="1772712"/>
          </a:xfrm>
          <a:prstGeom prst="roundRect">
            <a:avLst/>
          </a:prstGeom>
          <a:solidFill>
            <a:srgbClr val="FFE1F5"/>
          </a:solidFill>
          <a:ln>
            <a:noFill/>
          </a:ln>
          <a:effectLst>
            <a:softEdge rad="127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ounded Rectangle 74"/>
          <p:cNvSpPr/>
          <p:nvPr/>
        </p:nvSpPr>
        <p:spPr>
          <a:xfrm>
            <a:off x="9450197" y="4882206"/>
            <a:ext cx="2538045" cy="1772712"/>
          </a:xfrm>
          <a:prstGeom prst="roundRect">
            <a:avLst/>
          </a:prstGeom>
          <a:solidFill>
            <a:srgbClr val="FFE1F5"/>
          </a:solidFill>
          <a:ln>
            <a:noFill/>
          </a:ln>
          <a:effectLst>
            <a:softEdge rad="127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175650"/>
            <a:ext cx="1203222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Revenue Model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733546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 3"/>
          <p:cNvSpPr/>
          <p:nvPr/>
        </p:nvSpPr>
        <p:spPr>
          <a:xfrm>
            <a:off x="384574" y="2386926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</a:rPr>
              <a:t>Multi-stream Revenue Channels</a:t>
            </a:r>
            <a:endParaRPr lang="en-US" sz="2000" dirty="0"/>
          </a:p>
        </p:txBody>
      </p:sp>
      <p:sp>
        <p:nvSpPr>
          <p:cNvPr id="48" name="Text 4"/>
          <p:cNvSpPr/>
          <p:nvPr/>
        </p:nvSpPr>
        <p:spPr>
          <a:xfrm>
            <a:off x="592033" y="3031041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IN" b="1" dirty="0">
                <a:solidFill>
                  <a:srgbClr val="FF6699"/>
                </a:solidFill>
              </a:rPr>
              <a:t>Product Sales </a:t>
            </a:r>
          </a:p>
          <a:p>
            <a:pPr algn="ctr">
              <a:lnSpc>
                <a:spcPts val="1850"/>
              </a:lnSpc>
            </a:pPr>
            <a:r>
              <a:rPr lang="en-IN" b="1" dirty="0">
                <a:solidFill>
                  <a:srgbClr val="FF6699"/>
                </a:solidFill>
              </a:rPr>
              <a:t>(Inventory-Led)</a:t>
            </a:r>
            <a:endParaRPr lang="en-US" sz="1600" dirty="0">
              <a:solidFill>
                <a:srgbClr val="FF6699"/>
              </a:solidFill>
            </a:endParaRPr>
          </a:p>
        </p:txBody>
      </p:sp>
      <p:sp>
        <p:nvSpPr>
          <p:cNvPr id="49" name="Text 4"/>
          <p:cNvSpPr/>
          <p:nvPr/>
        </p:nvSpPr>
        <p:spPr>
          <a:xfrm>
            <a:off x="3589455" y="3017215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IN" b="1" dirty="0">
                <a:solidFill>
                  <a:srgbClr val="FF6699"/>
                </a:solidFill>
              </a:rPr>
              <a:t>Marketplace</a:t>
            </a:r>
          </a:p>
          <a:p>
            <a:pPr algn="ctr">
              <a:lnSpc>
                <a:spcPts val="1850"/>
              </a:lnSpc>
            </a:pPr>
            <a:r>
              <a:rPr lang="en-IN" b="1" dirty="0">
                <a:solidFill>
                  <a:srgbClr val="FF6699"/>
                </a:solidFill>
              </a:rPr>
              <a:t>Commissions</a:t>
            </a:r>
            <a:endParaRPr lang="en-US" sz="1600" dirty="0">
              <a:solidFill>
                <a:srgbClr val="FF6699"/>
              </a:solidFill>
            </a:endParaRPr>
          </a:p>
        </p:txBody>
      </p:sp>
      <p:sp>
        <p:nvSpPr>
          <p:cNvPr id="50" name="Text 4"/>
          <p:cNvSpPr/>
          <p:nvPr/>
        </p:nvSpPr>
        <p:spPr>
          <a:xfrm>
            <a:off x="498709" y="5098382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IN" b="1" dirty="0">
                <a:solidFill>
                  <a:srgbClr val="FF6699"/>
                </a:solidFill>
              </a:rPr>
              <a:t>Private Labels</a:t>
            </a:r>
            <a:endParaRPr lang="en-US" sz="1600" dirty="0">
              <a:solidFill>
                <a:srgbClr val="FF6699"/>
              </a:solidFill>
            </a:endParaRPr>
          </a:p>
        </p:txBody>
      </p:sp>
      <p:sp>
        <p:nvSpPr>
          <p:cNvPr id="51" name="Text 4"/>
          <p:cNvSpPr/>
          <p:nvPr/>
        </p:nvSpPr>
        <p:spPr>
          <a:xfrm>
            <a:off x="3627673" y="5098382"/>
            <a:ext cx="1865258" cy="37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50"/>
              </a:lnSpc>
            </a:pPr>
            <a:r>
              <a:rPr lang="en-IN" b="1" dirty="0">
                <a:solidFill>
                  <a:srgbClr val="FF6699"/>
                </a:solidFill>
              </a:rPr>
              <a:t>Fashion Marketplace</a:t>
            </a:r>
            <a:endParaRPr lang="en-US" sz="1600" dirty="0">
              <a:solidFill>
                <a:srgbClr val="FF6699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917368" y="2929964"/>
            <a:ext cx="16744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66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B2B Wholesale</a:t>
            </a:r>
          </a:p>
          <a:p>
            <a:r>
              <a:rPr lang="en-IN" b="1" dirty="0">
                <a:solidFill>
                  <a:srgbClr val="FF66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(Superstore)</a:t>
            </a:r>
            <a:endParaRPr lang="en-IN" dirty="0">
              <a:solidFill>
                <a:srgbClr val="FF6699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969324" y="2911744"/>
            <a:ext cx="15719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66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Advertising </a:t>
            </a:r>
          </a:p>
          <a:p>
            <a:r>
              <a:rPr lang="en-IN" b="1" dirty="0">
                <a:solidFill>
                  <a:srgbClr val="FF66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&amp; Promotions</a:t>
            </a:r>
            <a:endParaRPr lang="en-IN" dirty="0">
              <a:solidFill>
                <a:srgbClr val="FF6699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639688" y="5038939"/>
            <a:ext cx="23070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66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Subscription Services</a:t>
            </a:r>
            <a:endParaRPr lang="en-IN" dirty="0">
              <a:solidFill>
                <a:srgbClr val="FF6699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678699" y="5097649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6699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Omni-channel Sales</a:t>
            </a:r>
            <a:endParaRPr lang="en-IN" dirty="0">
              <a:solidFill>
                <a:srgbClr val="FF6699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16627" y="3550295"/>
            <a:ext cx="24912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ea typeface="Times New Roman" panose="02020603050405020304" pitchFamily="18" charset="0"/>
              </a:rPr>
              <a:t>Direct brand purchases, sold via app/site/stores → high margin, quality control</a:t>
            </a:r>
            <a:endParaRPr lang="en-IN" sz="1600" dirty="0"/>
          </a:p>
        </p:txBody>
      </p:sp>
      <p:sp>
        <p:nvSpPr>
          <p:cNvPr id="57" name="Rectangle 56"/>
          <p:cNvSpPr/>
          <p:nvPr/>
        </p:nvSpPr>
        <p:spPr>
          <a:xfrm>
            <a:off x="3220575" y="3541407"/>
            <a:ext cx="26030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ea typeface="Times New Roman" panose="02020603050405020304" pitchFamily="18" charset="0"/>
              </a:rPr>
              <a:t>Vendor listings + promo/advert fees → scalable without holding inventory</a:t>
            </a:r>
            <a:endParaRPr lang="en-IN" sz="1600" dirty="0"/>
          </a:p>
        </p:txBody>
      </p:sp>
      <p:sp>
        <p:nvSpPr>
          <p:cNvPr id="58" name="Rectangle 57"/>
          <p:cNvSpPr/>
          <p:nvPr/>
        </p:nvSpPr>
        <p:spPr>
          <a:xfrm>
            <a:off x="6612375" y="3550295"/>
            <a:ext cx="22810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ea typeface="Times New Roman" panose="02020603050405020304" pitchFamily="18" charset="0"/>
              </a:rPr>
              <a:t>In-house brands (e.g., Kay Beauty) → 39% YoY growth, higher profitability</a:t>
            </a:r>
            <a:endParaRPr lang="en-IN" sz="1600" dirty="0"/>
          </a:p>
        </p:txBody>
      </p:sp>
      <p:sp>
        <p:nvSpPr>
          <p:cNvPr id="60" name="Rectangle 59"/>
          <p:cNvSpPr/>
          <p:nvPr/>
        </p:nvSpPr>
        <p:spPr>
          <a:xfrm>
            <a:off x="9553697" y="3578771"/>
            <a:ext cx="24031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ea typeface="Times New Roman" panose="02020603050405020304" pitchFamily="18" charset="0"/>
              </a:rPr>
              <a:t>Growing vertical with ₹4,000 Cr FY24 revenue</a:t>
            </a:r>
            <a:endParaRPr lang="en-IN" sz="1600" dirty="0"/>
          </a:p>
        </p:txBody>
      </p:sp>
      <p:sp>
        <p:nvSpPr>
          <p:cNvPr id="61" name="Rectangle 60"/>
          <p:cNvSpPr/>
          <p:nvPr/>
        </p:nvSpPr>
        <p:spPr>
          <a:xfrm>
            <a:off x="340480" y="5379303"/>
            <a:ext cx="24391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ea typeface="Times New Roman" panose="02020603050405020304" pitchFamily="18" charset="0"/>
              </a:rPr>
              <a:t>Bulk supply to 1.95L+ retailers → wholesale GMV up</a:t>
            </a:r>
            <a:endParaRPr lang="en-IN" sz="1600" dirty="0"/>
          </a:p>
        </p:txBody>
      </p:sp>
      <p:sp>
        <p:nvSpPr>
          <p:cNvPr id="62" name="Rectangle 61"/>
          <p:cNvSpPr/>
          <p:nvPr/>
        </p:nvSpPr>
        <p:spPr>
          <a:xfrm>
            <a:off x="3125220" y="5388151"/>
            <a:ext cx="2793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ea typeface="Times New Roman" panose="02020603050405020304" pitchFamily="18" charset="0"/>
              </a:rPr>
              <a:t>Brands pay for banners, sponsored listings, etc.</a:t>
            </a:r>
            <a:endParaRPr lang="en-IN" sz="1600" dirty="0"/>
          </a:p>
        </p:txBody>
      </p:sp>
      <p:sp>
        <p:nvSpPr>
          <p:cNvPr id="63" name="Rectangle 62"/>
          <p:cNvSpPr/>
          <p:nvPr/>
        </p:nvSpPr>
        <p:spPr>
          <a:xfrm>
            <a:off x="6407709" y="5379303"/>
            <a:ext cx="26588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ea typeface="Times New Roman" panose="02020603050405020304" pitchFamily="18" charset="0"/>
              </a:rPr>
              <a:t>Recurring income via exclusive access &amp; deals</a:t>
            </a:r>
            <a:endParaRPr lang="en-IN" sz="1600" dirty="0"/>
          </a:p>
        </p:txBody>
      </p:sp>
      <p:sp>
        <p:nvSpPr>
          <p:cNvPr id="64" name="Rectangle 63"/>
          <p:cNvSpPr/>
          <p:nvPr/>
        </p:nvSpPr>
        <p:spPr>
          <a:xfrm>
            <a:off x="9405612" y="5466981"/>
            <a:ext cx="25291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ea typeface="Times New Roman" panose="02020603050405020304" pitchFamily="18" charset="0"/>
              </a:rPr>
              <a:t>Integrated store + digital presence = maximum reach</a:t>
            </a:r>
            <a:endParaRPr lang="en-IN" sz="1600" dirty="0"/>
          </a:p>
        </p:txBody>
      </p:sp>
      <p:sp>
        <p:nvSpPr>
          <p:cNvPr id="67" name="Rectangle 66"/>
          <p:cNvSpPr/>
          <p:nvPr/>
        </p:nvSpPr>
        <p:spPr>
          <a:xfrm>
            <a:off x="255640" y="1050818"/>
            <a:ext cx="10712501" cy="925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 err="1">
                <a:solidFill>
                  <a:srgbClr val="000000"/>
                </a:solidFill>
                <a:ea typeface="Aptos"/>
                <a:cs typeface="Times New Roman" panose="02020603050405020304" pitchFamily="18" charset="0"/>
              </a:rPr>
              <a:t>Nykaa’s</a:t>
            </a:r>
            <a:r>
              <a:rPr lang="en-IN" sz="1600" kern="100" dirty="0">
                <a:solidFill>
                  <a:srgbClr val="000000"/>
                </a:solidFill>
                <a:ea typeface="Aptos"/>
                <a:cs typeface="Times New Roman" panose="02020603050405020304" pitchFamily="18" charset="0"/>
              </a:rPr>
              <a:t> total revenue from operations for FY25 was ₹7,950 crore, reflecting a 24% year-on-year growth and representing the combined income from all its business segments, including beauty, fashion, private labels, marketplace commissions, B2B wholesale, and advertising.</a:t>
            </a:r>
            <a:endParaRPr lang="en-IN" sz="1600" kern="100" dirty="0"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175650"/>
            <a:ext cx="1203222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Revenue Model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733546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03B9F0D9-2D23-417A-BAD1-73E6259591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648933"/>
              </p:ext>
            </p:extLst>
          </p:nvPr>
        </p:nvGraphicFramePr>
        <p:xfrm>
          <a:off x="2244897" y="1559646"/>
          <a:ext cx="7702205" cy="4348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68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203222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Comparable Online Stores Of Nykaa In Care Products In India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289196"/>
              </p:ext>
            </p:extLst>
          </p:nvPr>
        </p:nvGraphicFramePr>
        <p:xfrm>
          <a:off x="341745" y="1791858"/>
          <a:ext cx="11120582" cy="378064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07830703"/>
                    </a:ext>
                  </a:extLst>
                </a:gridCol>
                <a:gridCol w="1791855">
                  <a:extLst>
                    <a:ext uri="{9D8B030D-6E8A-4147-A177-3AD203B41FA5}">
                      <a16:colId xmlns:a16="http://schemas.microsoft.com/office/drawing/2014/main" val="2167457945"/>
                    </a:ext>
                  </a:extLst>
                </a:gridCol>
                <a:gridCol w="1847273">
                  <a:extLst>
                    <a:ext uri="{9D8B030D-6E8A-4147-A177-3AD203B41FA5}">
                      <a16:colId xmlns:a16="http://schemas.microsoft.com/office/drawing/2014/main" val="1366797944"/>
                    </a:ext>
                  </a:extLst>
                </a:gridCol>
                <a:gridCol w="1810327">
                  <a:extLst>
                    <a:ext uri="{9D8B030D-6E8A-4147-A177-3AD203B41FA5}">
                      <a16:colId xmlns:a16="http://schemas.microsoft.com/office/drawing/2014/main" val="19031733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1363988920"/>
                    </a:ext>
                  </a:extLst>
                </a:gridCol>
                <a:gridCol w="1764145">
                  <a:extLst>
                    <a:ext uri="{9D8B030D-6E8A-4147-A177-3AD203B41FA5}">
                      <a16:colId xmlns:a16="http://schemas.microsoft.com/office/drawing/2014/main" val="458571294"/>
                    </a:ext>
                  </a:extLst>
                </a:gridCol>
              </a:tblGrid>
              <a:tr h="898577">
                <a:tc>
                  <a:txBody>
                    <a:bodyPr/>
                    <a:lstStyle/>
                    <a:p>
                      <a:r>
                        <a:rPr lang="en-US" b="1" dirty="0"/>
                        <a:t>Criteria</a:t>
                      </a:r>
                      <a:endParaRPr lang="en-IN" b="1" dirty="0"/>
                    </a:p>
                  </a:txBody>
                  <a:tcPr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Nykaa</a:t>
                      </a:r>
                      <a:endParaRPr lang="en-IN" dirty="0"/>
                    </a:p>
                  </a:txBody>
                  <a:tcPr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Purplle</a:t>
                      </a:r>
                      <a:endParaRPr lang="en-IN" dirty="0"/>
                    </a:p>
                  </a:txBody>
                  <a:tcPr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Amazon</a:t>
                      </a:r>
                      <a:endParaRPr lang="en-IN" dirty="0"/>
                    </a:p>
                  </a:txBody>
                  <a:tcPr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Myntra</a:t>
                      </a:r>
                      <a:endParaRPr lang="en-IN" dirty="0"/>
                    </a:p>
                  </a:txBody>
                  <a:tcPr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Tira</a:t>
                      </a:r>
                      <a:endParaRPr lang="en-IN" dirty="0"/>
                    </a:p>
                  </a:txBody>
                  <a:tcPr>
                    <a:solidFill>
                      <a:srgbClr val="F8B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45660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US" b="1" dirty="0"/>
                        <a:t>Product Range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500K+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50K+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Massive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Growing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07852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US" b="1" dirty="0"/>
                        <a:t>Focus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Beauty</a:t>
                      </a:r>
                      <a:r>
                        <a:rPr lang="en-US" baseline="0" dirty="0"/>
                        <a:t> +</a:t>
                      </a:r>
                      <a:r>
                        <a:rPr lang="en-US" dirty="0"/>
                        <a:t> Fashion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Beauty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Fashion</a:t>
                      </a:r>
                      <a:r>
                        <a:rPr lang="en-US" baseline="0" dirty="0"/>
                        <a:t> + </a:t>
                      </a:r>
                      <a:r>
                        <a:rPr lang="en-US" dirty="0"/>
                        <a:t>Beauty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Premium Beauty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99565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US" b="1" dirty="0"/>
                        <a:t>Private Labels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194984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US" b="1" dirty="0"/>
                        <a:t>Mobile App Rating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8846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US" b="1" dirty="0"/>
                        <a:t>Brand Experience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197719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US" b="1" dirty="0"/>
                        <a:t>Influencer Content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668631"/>
                  </a:ext>
                </a:extLst>
              </a:tr>
            </a:tbl>
          </a:graphicData>
        </a:graphic>
      </p:graphicFrame>
      <p:sp>
        <p:nvSpPr>
          <p:cNvPr id="58" name="5-Point Star 57"/>
          <p:cNvSpPr/>
          <p:nvPr/>
        </p:nvSpPr>
        <p:spPr>
          <a:xfrm>
            <a:off x="2895601" y="4193305"/>
            <a:ext cx="221673" cy="230909"/>
          </a:xfrm>
          <a:prstGeom prst="star5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5-Point Star 58"/>
          <p:cNvSpPr/>
          <p:nvPr/>
        </p:nvSpPr>
        <p:spPr>
          <a:xfrm>
            <a:off x="4678219" y="4197919"/>
            <a:ext cx="221673" cy="230909"/>
          </a:xfrm>
          <a:prstGeom prst="star5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5-Point Star 59"/>
          <p:cNvSpPr/>
          <p:nvPr/>
        </p:nvSpPr>
        <p:spPr>
          <a:xfrm>
            <a:off x="10150762" y="4184058"/>
            <a:ext cx="221673" cy="230909"/>
          </a:xfrm>
          <a:prstGeom prst="star5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5-Point Star 60"/>
          <p:cNvSpPr/>
          <p:nvPr/>
        </p:nvSpPr>
        <p:spPr>
          <a:xfrm>
            <a:off x="8326581" y="4184059"/>
            <a:ext cx="221673" cy="230909"/>
          </a:xfrm>
          <a:prstGeom prst="star5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5-Point Star 61"/>
          <p:cNvSpPr/>
          <p:nvPr/>
        </p:nvSpPr>
        <p:spPr>
          <a:xfrm>
            <a:off x="6502400" y="4184060"/>
            <a:ext cx="221673" cy="230909"/>
          </a:xfrm>
          <a:prstGeom prst="star5">
            <a:avLst/>
          </a:prstGeom>
          <a:solidFill>
            <a:srgbClr val="FF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544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203222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Technology Utilization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49189"/>
              </p:ext>
            </p:extLst>
          </p:nvPr>
        </p:nvGraphicFramePr>
        <p:xfrm>
          <a:off x="341746" y="1772051"/>
          <a:ext cx="11148291" cy="378064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934732">
                  <a:extLst>
                    <a:ext uri="{9D8B030D-6E8A-4147-A177-3AD203B41FA5}">
                      <a16:colId xmlns:a16="http://schemas.microsoft.com/office/drawing/2014/main" val="307830703"/>
                    </a:ext>
                  </a:extLst>
                </a:gridCol>
                <a:gridCol w="8213559">
                  <a:extLst>
                    <a:ext uri="{9D8B030D-6E8A-4147-A177-3AD203B41FA5}">
                      <a16:colId xmlns:a16="http://schemas.microsoft.com/office/drawing/2014/main" val="2167457945"/>
                    </a:ext>
                  </a:extLst>
                </a:gridCol>
              </a:tblGrid>
              <a:tr h="898577">
                <a:tc>
                  <a:txBody>
                    <a:bodyPr/>
                    <a:lstStyle/>
                    <a:p>
                      <a:pPr algn="l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Area</a:t>
                      </a:r>
                      <a:endParaRPr lang="en-IN" b="1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 Utilized</a:t>
                      </a:r>
                      <a:endParaRPr lang="en-IN" dirty="0">
                        <a:effectLst/>
                        <a:latin typeface="+mn-lt"/>
                      </a:endParaRPr>
                    </a:p>
                  </a:txBody>
                  <a:tcPr>
                    <a:solidFill>
                      <a:srgbClr val="F8B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45660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Personalization</a:t>
                      </a:r>
                      <a:endParaRPr lang="en-IN" b="1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AI/ML algorithms for personalized product recommendations</a:t>
                      </a:r>
                      <a:endParaRPr lang="en-IN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07852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Analytics</a:t>
                      </a:r>
                      <a:endParaRPr lang="en-IN" b="1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user behaviour tracking for targeted marketing</a:t>
                      </a:r>
                      <a:endParaRPr lang="en-IN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99565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 App</a:t>
                      </a:r>
                      <a:endParaRPr lang="en-IN" b="1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Smooth UI/UX with advanced search, filters, and AR try-ons (beauty)</a:t>
                      </a:r>
                      <a:endParaRPr lang="en-IN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194984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Supply Chain &amp; Fulfilment</a:t>
                      </a:r>
                      <a:endParaRPr lang="en-IN" b="1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 warehouse management system for fast deliveries across 90%+ PIN codes</a:t>
                      </a:r>
                      <a:endParaRPr lang="en-IN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8846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 Platforms</a:t>
                      </a:r>
                      <a:endParaRPr lang="en-IN" b="1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Nykaa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TV,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Nykaa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Network — tech-enabled beauty community &amp; tutorials</a:t>
                      </a:r>
                      <a:endParaRPr lang="en-IN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197719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Omni-channel Integration</a:t>
                      </a:r>
                      <a:endParaRPr lang="en-IN" b="1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Unified inventory across app, web, and 230+ physical stores</a:t>
                      </a:r>
                      <a:endParaRPr lang="en-IN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668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42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06155" y="1413163"/>
            <a:ext cx="2121772" cy="212436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What Nykaa Leaders Say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hape 7"/>
          <p:cNvSpPr/>
          <p:nvPr/>
        </p:nvSpPr>
        <p:spPr>
          <a:xfrm>
            <a:off x="3533774" y="1652773"/>
            <a:ext cx="7836178" cy="1598428"/>
          </a:xfrm>
          <a:prstGeom prst="roundRect">
            <a:avLst>
              <a:gd name="adj" fmla="val 3258"/>
            </a:avLst>
          </a:prstGeom>
          <a:noFill/>
          <a:ln w="22860">
            <a:solidFill>
              <a:srgbClr val="E0B7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3533774" y="1652773"/>
            <a:ext cx="105341" cy="1598428"/>
          </a:xfrm>
          <a:prstGeom prst="roundRect">
            <a:avLst>
              <a:gd name="adj" fmla="val 81303"/>
            </a:avLst>
          </a:prstGeom>
          <a:solidFill>
            <a:srgbClr val="F4A3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249873" y="1729502"/>
            <a:ext cx="45719" cy="1364680"/>
          </a:xfrm>
          <a:prstGeom prst="rect">
            <a:avLst/>
          </a:prstGeom>
          <a:solidFill>
            <a:srgbClr val="F4A3B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18" y="1528602"/>
            <a:ext cx="1901246" cy="1893486"/>
          </a:xfrm>
          <a:prstGeom prst="ellipse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806155" y="4170218"/>
            <a:ext cx="2121772" cy="2124364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6" name="Picture 8" descr="Indian Retail &amp; eRetail Congress 20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45" y="4285657"/>
            <a:ext cx="1979592" cy="189348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hape 7"/>
          <p:cNvSpPr/>
          <p:nvPr/>
        </p:nvSpPr>
        <p:spPr>
          <a:xfrm>
            <a:off x="3533774" y="4456009"/>
            <a:ext cx="7836178" cy="1598428"/>
          </a:xfrm>
          <a:prstGeom prst="roundRect">
            <a:avLst>
              <a:gd name="adj" fmla="val 3258"/>
            </a:avLst>
          </a:prstGeom>
          <a:noFill/>
          <a:ln w="22860">
            <a:solidFill>
              <a:srgbClr val="E0B7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2"/>
          <p:cNvSpPr/>
          <p:nvPr/>
        </p:nvSpPr>
        <p:spPr>
          <a:xfrm>
            <a:off x="3533774" y="4456009"/>
            <a:ext cx="105341" cy="1598428"/>
          </a:xfrm>
          <a:prstGeom prst="roundRect">
            <a:avLst>
              <a:gd name="adj" fmla="val 81303"/>
            </a:avLst>
          </a:prstGeom>
          <a:solidFill>
            <a:srgbClr val="F4A3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5"/>
          <p:cNvSpPr/>
          <p:nvPr/>
        </p:nvSpPr>
        <p:spPr>
          <a:xfrm>
            <a:off x="4249873" y="4532738"/>
            <a:ext cx="45719" cy="1364680"/>
          </a:xfrm>
          <a:prstGeom prst="rect">
            <a:avLst/>
          </a:prstGeom>
          <a:solidFill>
            <a:srgbClr val="F4A3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0"/>
          <p:cNvSpPr/>
          <p:nvPr/>
        </p:nvSpPr>
        <p:spPr>
          <a:xfrm>
            <a:off x="4446194" y="1838029"/>
            <a:ext cx="6702097" cy="125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i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"Technology plays a crucial role… from demand forecasting to hyper-personalization. It’s the backbone of everything we do." </a:t>
            </a:r>
          </a:p>
          <a:p>
            <a:pPr marL="0" indent="0" algn="ctr">
              <a:lnSpc>
                <a:spcPts val="2200"/>
              </a:lnSpc>
              <a:buNone/>
            </a:pPr>
            <a:endParaRPr lang="en-US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i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— Falguni Nayar, CEO, ET Interview (2023)</a:t>
            </a:r>
            <a:endParaRPr lang="en-US" i="1" dirty="0"/>
          </a:p>
        </p:txBody>
      </p:sp>
      <p:sp>
        <p:nvSpPr>
          <p:cNvPr id="19" name="Text 16"/>
          <p:cNvSpPr/>
          <p:nvPr/>
        </p:nvSpPr>
        <p:spPr>
          <a:xfrm>
            <a:off x="4446194" y="4683731"/>
            <a:ext cx="6794461" cy="114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i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"Nykaa isn’t just a retailer — we see ourselves as a content-led, technology-first lifestyle platform." </a:t>
            </a:r>
          </a:p>
          <a:p>
            <a:pPr marL="0" indent="0" algn="ctr">
              <a:lnSpc>
                <a:spcPts val="2200"/>
              </a:lnSpc>
              <a:buNone/>
            </a:pPr>
            <a:endParaRPr lang="en-US" i="1" dirty="0">
              <a:solidFill>
                <a:srgbClr val="272525"/>
              </a:solidFill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i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— Anchit Nayar, CEO E-Commerce, Business Insider (2022)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03911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Data Analytics &amp; Personalization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Shape 1"/>
          <p:cNvSpPr/>
          <p:nvPr/>
        </p:nvSpPr>
        <p:spPr>
          <a:xfrm>
            <a:off x="570792" y="145574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8"/>
          <p:cNvSpPr/>
          <p:nvPr/>
        </p:nvSpPr>
        <p:spPr>
          <a:xfrm>
            <a:off x="2171007" y="1169698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"/>
          <p:cNvSpPr/>
          <p:nvPr/>
        </p:nvSpPr>
        <p:spPr>
          <a:xfrm>
            <a:off x="6340225" y="145574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18"/>
          <p:cNvSpPr/>
          <p:nvPr/>
        </p:nvSpPr>
        <p:spPr>
          <a:xfrm>
            <a:off x="8145556" y="1167203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"/>
          <p:cNvSpPr/>
          <p:nvPr/>
        </p:nvSpPr>
        <p:spPr>
          <a:xfrm>
            <a:off x="1146181" y="1822351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Data-Driven Insights</a:t>
            </a:r>
            <a:endParaRPr lang="en-US" sz="2000" dirty="0"/>
          </a:p>
        </p:txBody>
      </p:sp>
      <p:sp>
        <p:nvSpPr>
          <p:cNvPr id="71" name="Text 7"/>
          <p:cNvSpPr/>
          <p:nvPr/>
        </p:nvSpPr>
        <p:spPr>
          <a:xfrm>
            <a:off x="7267745" y="1821547"/>
            <a:ext cx="277165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Personalization in Action</a:t>
            </a:r>
            <a:endParaRPr lang="en-US" sz="20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305" y="1259139"/>
            <a:ext cx="462355" cy="462355"/>
          </a:xfrm>
          <a:prstGeom prst="rect">
            <a:avLst/>
          </a:prstGeom>
        </p:spPr>
      </p:pic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635" y="1244648"/>
            <a:ext cx="467916" cy="467916"/>
          </a:xfrm>
          <a:prstGeom prst="rect">
            <a:avLst/>
          </a:prstGeom>
        </p:spPr>
      </p:pic>
      <p:sp>
        <p:nvSpPr>
          <p:cNvPr id="38" name="Text 2"/>
          <p:cNvSpPr/>
          <p:nvPr/>
        </p:nvSpPr>
        <p:spPr>
          <a:xfrm>
            <a:off x="275240" y="2310006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Real-time behavior tracking (searches, clicks, carts)</a:t>
            </a:r>
            <a:endParaRPr lang="en-US" dirty="0"/>
          </a:p>
        </p:txBody>
      </p:sp>
      <p:sp>
        <p:nvSpPr>
          <p:cNvPr id="40" name="Text 3"/>
          <p:cNvSpPr/>
          <p:nvPr/>
        </p:nvSpPr>
        <p:spPr>
          <a:xfrm>
            <a:off x="275240" y="2752204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Customer segmentation by preferences &amp; budget</a:t>
            </a:r>
            <a:endParaRPr lang="en-US" dirty="0"/>
          </a:p>
        </p:txBody>
      </p:sp>
      <p:sp>
        <p:nvSpPr>
          <p:cNvPr id="41" name="Text 4"/>
          <p:cNvSpPr/>
          <p:nvPr/>
        </p:nvSpPr>
        <p:spPr>
          <a:xfrm>
            <a:off x="275240" y="3194402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Identifies top products, trends, seasonality</a:t>
            </a:r>
            <a:endParaRPr lang="en-US" dirty="0"/>
          </a:p>
        </p:txBody>
      </p:sp>
      <p:sp>
        <p:nvSpPr>
          <p:cNvPr id="42" name="Text 5"/>
          <p:cNvSpPr/>
          <p:nvPr/>
        </p:nvSpPr>
        <p:spPr>
          <a:xfrm>
            <a:off x="275240" y="363660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Analyzes reviews to detect dissatisfaction</a:t>
            </a:r>
            <a:endParaRPr lang="en-US" dirty="0"/>
          </a:p>
        </p:txBody>
      </p:sp>
      <p:sp>
        <p:nvSpPr>
          <p:cNvPr id="43" name="Text 7"/>
          <p:cNvSpPr/>
          <p:nvPr/>
        </p:nvSpPr>
        <p:spPr>
          <a:xfrm>
            <a:off x="6938334" y="2310006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AI-driven product recommendations</a:t>
            </a:r>
            <a:endParaRPr lang="en-US" dirty="0"/>
          </a:p>
        </p:txBody>
      </p:sp>
      <p:sp>
        <p:nvSpPr>
          <p:cNvPr id="44" name="Text 8"/>
          <p:cNvSpPr/>
          <p:nvPr/>
        </p:nvSpPr>
        <p:spPr>
          <a:xfrm>
            <a:off x="6938334" y="2752204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Custom homepages &amp; email offers</a:t>
            </a:r>
            <a:endParaRPr lang="en-US" dirty="0"/>
          </a:p>
        </p:txBody>
      </p:sp>
      <p:sp>
        <p:nvSpPr>
          <p:cNvPr id="45" name="Text 9"/>
          <p:cNvSpPr/>
          <p:nvPr/>
        </p:nvSpPr>
        <p:spPr>
          <a:xfrm>
            <a:off x="6938334" y="3194402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Behavior-triggered alerts (cart abandonment)</a:t>
            </a:r>
            <a:endParaRPr lang="en-US" dirty="0"/>
          </a:p>
        </p:txBody>
      </p:sp>
      <p:sp>
        <p:nvSpPr>
          <p:cNvPr id="46" name="Text 10"/>
          <p:cNvSpPr/>
          <p:nvPr/>
        </p:nvSpPr>
        <p:spPr>
          <a:xfrm>
            <a:off x="6938334" y="363660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Smart filters (vegan, sulfate-free, SPF)</a:t>
            </a:r>
            <a:endParaRPr lang="en-US" dirty="0"/>
          </a:p>
        </p:txBody>
      </p:sp>
      <p:sp>
        <p:nvSpPr>
          <p:cNvPr id="85" name="Rounded Rectangle 84"/>
          <p:cNvSpPr/>
          <p:nvPr/>
        </p:nvSpPr>
        <p:spPr>
          <a:xfrm>
            <a:off x="159774" y="4959927"/>
            <a:ext cx="11822545" cy="1376219"/>
          </a:xfrm>
          <a:prstGeom prst="roundRect">
            <a:avLst/>
          </a:prstGeom>
          <a:solidFill>
            <a:srgbClr val="F3C8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850"/>
              </a:lnSpc>
            </a:pPr>
            <a:r>
              <a:rPr lang="en-US" i="1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"Our recommendation engine and analytics tools help us deliver a unique journey for each user — from search to checkout." — Nykaa Tech Team, Economic Times (2023)</a:t>
            </a:r>
            <a:endParaRPr lang="en-US" i="1" dirty="0"/>
          </a:p>
        </p:txBody>
      </p:sp>
      <p:sp>
        <p:nvSpPr>
          <p:cNvPr id="86" name="Text 5"/>
          <p:cNvSpPr/>
          <p:nvPr/>
        </p:nvSpPr>
        <p:spPr>
          <a:xfrm>
            <a:off x="275240" y="4017272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Tracks drop-off points in user journey to improve conversations </a:t>
            </a:r>
            <a:endParaRPr lang="en-US" dirty="0"/>
          </a:p>
        </p:txBody>
      </p:sp>
      <p:sp>
        <p:nvSpPr>
          <p:cNvPr id="87" name="Text 10"/>
          <p:cNvSpPr/>
          <p:nvPr/>
        </p:nvSpPr>
        <p:spPr>
          <a:xfrm>
            <a:off x="6938334" y="4017272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Offers matched to user’s spend pattern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61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SWOT Analysis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Shape 1"/>
          <p:cNvSpPr/>
          <p:nvPr/>
        </p:nvSpPr>
        <p:spPr>
          <a:xfrm>
            <a:off x="570792" y="145574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8"/>
          <p:cNvSpPr/>
          <p:nvPr/>
        </p:nvSpPr>
        <p:spPr>
          <a:xfrm>
            <a:off x="2171007" y="1169698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"/>
          <p:cNvSpPr/>
          <p:nvPr/>
        </p:nvSpPr>
        <p:spPr>
          <a:xfrm>
            <a:off x="6340225" y="145574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1"/>
          <p:cNvSpPr/>
          <p:nvPr/>
        </p:nvSpPr>
        <p:spPr>
          <a:xfrm>
            <a:off x="653213" y="4077390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1"/>
          <p:cNvSpPr/>
          <p:nvPr/>
        </p:nvSpPr>
        <p:spPr>
          <a:xfrm>
            <a:off x="6340224" y="4092614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18"/>
          <p:cNvSpPr/>
          <p:nvPr/>
        </p:nvSpPr>
        <p:spPr>
          <a:xfrm>
            <a:off x="2152784" y="3809492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18"/>
          <p:cNvSpPr/>
          <p:nvPr/>
        </p:nvSpPr>
        <p:spPr>
          <a:xfrm>
            <a:off x="8145556" y="1167203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18"/>
          <p:cNvSpPr/>
          <p:nvPr/>
        </p:nvSpPr>
        <p:spPr>
          <a:xfrm>
            <a:off x="8145556" y="3786672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"/>
          <p:cNvSpPr/>
          <p:nvPr/>
        </p:nvSpPr>
        <p:spPr>
          <a:xfrm>
            <a:off x="2042108" y="1748266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Strengths</a:t>
            </a:r>
            <a:endParaRPr lang="en-US" sz="2000" dirty="0"/>
          </a:p>
        </p:txBody>
      </p:sp>
      <p:sp>
        <p:nvSpPr>
          <p:cNvPr id="69" name="Text 11"/>
          <p:cNvSpPr/>
          <p:nvPr/>
        </p:nvSpPr>
        <p:spPr>
          <a:xfrm>
            <a:off x="1808371" y="4404223"/>
            <a:ext cx="3013472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1E1E1E"/>
                </a:solidFill>
                <a:ea typeface="Inter Bold" pitchFamily="34" charset="-122"/>
                <a:cs typeface="Inter Bold" pitchFamily="34" charset="-120"/>
              </a:rPr>
              <a:t>Opportunities</a:t>
            </a:r>
            <a:endParaRPr lang="en-US" sz="2000" b="1" dirty="0"/>
          </a:p>
          <a:p>
            <a:pPr marL="0" indent="0" algn="l">
              <a:lnSpc>
                <a:spcPts val="2650"/>
              </a:lnSpc>
              <a:buNone/>
            </a:pPr>
            <a:endParaRPr lang="en-US" sz="2000" b="1" dirty="0"/>
          </a:p>
        </p:txBody>
      </p:sp>
      <p:sp>
        <p:nvSpPr>
          <p:cNvPr id="71" name="Text 7"/>
          <p:cNvSpPr/>
          <p:nvPr/>
        </p:nvSpPr>
        <p:spPr>
          <a:xfrm>
            <a:off x="7836305" y="1730360"/>
            <a:ext cx="277165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1E1E1E"/>
                </a:solidFill>
                <a:ea typeface="Inter Bold" pitchFamily="34" charset="-122"/>
                <a:cs typeface="Inter Bold" pitchFamily="34" charset="-120"/>
              </a:rPr>
              <a:t>Weaknesses</a:t>
            </a:r>
            <a:endParaRPr lang="en-US" sz="2000" b="1" dirty="0"/>
          </a:p>
          <a:p>
            <a:pPr marL="0" indent="0" algn="l">
              <a:lnSpc>
                <a:spcPts val="2650"/>
              </a:lnSpc>
              <a:buNone/>
            </a:pPr>
            <a:endParaRPr lang="en-US" sz="2000" b="1" dirty="0"/>
          </a:p>
        </p:txBody>
      </p:sp>
      <p:sp>
        <p:nvSpPr>
          <p:cNvPr id="73" name="Text 15"/>
          <p:cNvSpPr/>
          <p:nvPr/>
        </p:nvSpPr>
        <p:spPr>
          <a:xfrm>
            <a:off x="8054193" y="4401362"/>
            <a:ext cx="273950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2000" b="1" dirty="0">
                <a:solidFill>
                  <a:srgbClr val="1E1E1E"/>
                </a:solidFill>
                <a:ea typeface="Inter Bold" pitchFamily="34" charset="-122"/>
                <a:cs typeface="Inter Bold" pitchFamily="34" charset="-120"/>
              </a:rPr>
              <a:t>Threats</a:t>
            </a:r>
            <a:endParaRPr lang="en-US" sz="2000" b="1" dirty="0"/>
          </a:p>
          <a:p>
            <a:pPr marL="0" indent="0" algn="l">
              <a:lnSpc>
                <a:spcPts val="2650"/>
              </a:lnSpc>
              <a:buNone/>
            </a:pPr>
            <a:endParaRPr lang="en-US" sz="2000" b="1" dirty="0"/>
          </a:p>
        </p:txBody>
      </p:sp>
      <p:sp>
        <p:nvSpPr>
          <p:cNvPr id="3" name="Rectangle 2"/>
          <p:cNvSpPr/>
          <p:nvPr/>
        </p:nvSpPr>
        <p:spPr>
          <a:xfrm>
            <a:off x="2106153" y="1216814"/>
            <a:ext cx="6160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endParaRPr lang="en-IN" sz="3200" dirty="0"/>
          </a:p>
        </p:txBody>
      </p:sp>
      <p:sp>
        <p:nvSpPr>
          <p:cNvPr id="5" name="Rectangle 4"/>
          <p:cNvSpPr/>
          <p:nvPr/>
        </p:nvSpPr>
        <p:spPr>
          <a:xfrm>
            <a:off x="8184128" y="1179084"/>
            <a:ext cx="5389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⚠</a:t>
            </a:r>
            <a:endParaRPr lang="en-IN" sz="3200" dirty="0"/>
          </a:p>
        </p:txBody>
      </p:sp>
      <p:sp>
        <p:nvSpPr>
          <p:cNvPr id="6" name="Rectangle 5"/>
          <p:cNvSpPr/>
          <p:nvPr/>
        </p:nvSpPr>
        <p:spPr>
          <a:xfrm>
            <a:off x="2106153" y="3845945"/>
            <a:ext cx="5880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📈</a:t>
            </a:r>
            <a:endParaRPr lang="en-IN" sz="3200" dirty="0"/>
          </a:p>
        </p:txBody>
      </p:sp>
      <p:sp>
        <p:nvSpPr>
          <p:cNvPr id="7" name="Rectangle 6"/>
          <p:cNvSpPr/>
          <p:nvPr/>
        </p:nvSpPr>
        <p:spPr>
          <a:xfrm>
            <a:off x="8077885" y="3800226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🚨</a:t>
            </a:r>
            <a:endParaRPr lang="en-IN" sz="3200" dirty="0"/>
          </a:p>
        </p:txBody>
      </p:sp>
      <p:sp>
        <p:nvSpPr>
          <p:cNvPr id="38" name="Text 2"/>
          <p:cNvSpPr/>
          <p:nvPr/>
        </p:nvSpPr>
        <p:spPr>
          <a:xfrm>
            <a:off x="374716" y="20694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Trusted brand, omnichannel presence (230+ stores)</a:t>
            </a:r>
            <a:endParaRPr lang="en-US" dirty="0"/>
          </a:p>
        </p:txBody>
      </p:sp>
      <p:sp>
        <p:nvSpPr>
          <p:cNvPr id="40" name="Text 3"/>
          <p:cNvSpPr/>
          <p:nvPr/>
        </p:nvSpPr>
        <p:spPr>
          <a:xfrm>
            <a:off x="374716" y="25116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Successful in-house brands (Kay Beauty)</a:t>
            </a:r>
            <a:endParaRPr lang="en-US" dirty="0"/>
          </a:p>
        </p:txBody>
      </p:sp>
      <p:sp>
        <p:nvSpPr>
          <p:cNvPr id="41" name="Text 4"/>
          <p:cNvSpPr/>
          <p:nvPr/>
        </p:nvSpPr>
        <p:spPr>
          <a:xfrm>
            <a:off x="374716" y="29538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Content &amp; influencer engagement (Nykaa TV)</a:t>
            </a:r>
            <a:endParaRPr lang="en-US" dirty="0"/>
          </a:p>
        </p:txBody>
      </p:sp>
      <p:sp>
        <p:nvSpPr>
          <p:cNvPr id="42" name="Text 5"/>
          <p:cNvSpPr/>
          <p:nvPr/>
        </p:nvSpPr>
        <p:spPr>
          <a:xfrm>
            <a:off x="374716" y="33960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Consistent growth: ₹7,950 Cr in FY25 (+24% YoY)</a:t>
            </a:r>
            <a:endParaRPr lang="en-US" dirty="0"/>
          </a:p>
        </p:txBody>
      </p:sp>
      <p:sp>
        <p:nvSpPr>
          <p:cNvPr id="43" name="Text 7"/>
          <p:cNvSpPr/>
          <p:nvPr/>
        </p:nvSpPr>
        <p:spPr>
          <a:xfrm>
            <a:off x="6340224" y="20958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Heavy reliance on beauty (~90% revenue)</a:t>
            </a:r>
            <a:endParaRPr lang="en-US" dirty="0"/>
          </a:p>
        </p:txBody>
      </p:sp>
      <p:sp>
        <p:nvSpPr>
          <p:cNvPr id="44" name="Text 8"/>
          <p:cNvSpPr/>
          <p:nvPr/>
        </p:nvSpPr>
        <p:spPr>
          <a:xfrm>
            <a:off x="6340224" y="25380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High competition (</a:t>
            </a:r>
            <a:r>
              <a:rPr lang="en-US" dirty="0" err="1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Purplle</a:t>
            </a: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, Tira, Amazon )</a:t>
            </a:r>
            <a:endParaRPr lang="en-US" dirty="0"/>
          </a:p>
        </p:txBody>
      </p:sp>
      <p:sp>
        <p:nvSpPr>
          <p:cNvPr id="45" name="Text 9"/>
          <p:cNvSpPr/>
          <p:nvPr/>
        </p:nvSpPr>
        <p:spPr>
          <a:xfrm>
            <a:off x="6340224" y="29802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High operational costs, inconsistent customer service</a:t>
            </a:r>
            <a:endParaRPr lang="en-US" dirty="0"/>
          </a:p>
        </p:txBody>
      </p:sp>
      <p:sp>
        <p:nvSpPr>
          <p:cNvPr id="46" name="Text 10"/>
          <p:cNvSpPr/>
          <p:nvPr/>
        </p:nvSpPr>
        <p:spPr>
          <a:xfrm>
            <a:off x="6340224" y="34224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Slower traction in fashion vertical</a:t>
            </a:r>
            <a:endParaRPr lang="en-US" dirty="0"/>
          </a:p>
        </p:txBody>
      </p:sp>
      <p:sp>
        <p:nvSpPr>
          <p:cNvPr id="52" name="Text 12"/>
          <p:cNvSpPr/>
          <p:nvPr/>
        </p:nvSpPr>
        <p:spPr>
          <a:xfrm>
            <a:off x="374716" y="485884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Expansion in Tier-II/III cities</a:t>
            </a:r>
            <a:endParaRPr lang="en-US" dirty="0"/>
          </a:p>
        </p:txBody>
      </p:sp>
      <p:sp>
        <p:nvSpPr>
          <p:cNvPr id="56" name="Text 13"/>
          <p:cNvSpPr/>
          <p:nvPr/>
        </p:nvSpPr>
        <p:spPr>
          <a:xfrm>
            <a:off x="374716" y="530103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Grow high-margin private labels</a:t>
            </a:r>
            <a:endParaRPr lang="en-US" dirty="0"/>
          </a:p>
        </p:txBody>
      </p:sp>
      <p:sp>
        <p:nvSpPr>
          <p:cNvPr id="68" name="Text 14"/>
          <p:cNvSpPr/>
          <p:nvPr/>
        </p:nvSpPr>
        <p:spPr>
          <a:xfrm>
            <a:off x="374716" y="57432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Use AI/AR for deeper personalization</a:t>
            </a:r>
            <a:endParaRPr lang="en-US" dirty="0"/>
          </a:p>
        </p:txBody>
      </p:sp>
      <p:sp>
        <p:nvSpPr>
          <p:cNvPr id="70" name="Text 15"/>
          <p:cNvSpPr/>
          <p:nvPr/>
        </p:nvSpPr>
        <p:spPr>
          <a:xfrm>
            <a:off x="374716" y="61854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International market entry potential</a:t>
            </a:r>
            <a:endParaRPr lang="en-US" dirty="0"/>
          </a:p>
        </p:txBody>
      </p:sp>
      <p:sp>
        <p:nvSpPr>
          <p:cNvPr id="86" name="Text 17"/>
          <p:cNvSpPr/>
          <p:nvPr/>
        </p:nvSpPr>
        <p:spPr>
          <a:xfrm>
            <a:off x="6340224" y="48515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Aggressive competitors, demand shifts</a:t>
            </a:r>
            <a:endParaRPr lang="en-US" dirty="0"/>
          </a:p>
        </p:txBody>
      </p:sp>
      <p:sp>
        <p:nvSpPr>
          <p:cNvPr id="87" name="Text 18"/>
          <p:cNvSpPr/>
          <p:nvPr/>
        </p:nvSpPr>
        <p:spPr>
          <a:xfrm>
            <a:off x="6340224" y="5293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Economic slowdowns, regulatory changes</a:t>
            </a:r>
            <a:endParaRPr lang="en-US" dirty="0"/>
          </a:p>
        </p:txBody>
      </p:sp>
      <p:sp>
        <p:nvSpPr>
          <p:cNvPr id="88" name="Text 19"/>
          <p:cNvSpPr/>
          <p:nvPr/>
        </p:nvSpPr>
        <p:spPr>
          <a:xfrm>
            <a:off x="6340224" y="5735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Global supply chain uncertainties</a:t>
            </a:r>
            <a:endParaRPr lang="en-US" dirty="0"/>
          </a:p>
        </p:txBody>
      </p:sp>
      <p:sp>
        <p:nvSpPr>
          <p:cNvPr id="89" name="Text 20"/>
          <p:cNvSpPr/>
          <p:nvPr/>
        </p:nvSpPr>
        <p:spPr>
          <a:xfrm>
            <a:off x="6340224" y="6178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Data privacy/security risks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849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Customer Review Analysis - Methodology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Shape 1"/>
          <p:cNvSpPr/>
          <p:nvPr/>
        </p:nvSpPr>
        <p:spPr>
          <a:xfrm>
            <a:off x="568046" y="1455746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18"/>
          <p:cNvSpPr/>
          <p:nvPr/>
        </p:nvSpPr>
        <p:spPr>
          <a:xfrm>
            <a:off x="2171007" y="1169698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1"/>
          <p:cNvSpPr/>
          <p:nvPr/>
        </p:nvSpPr>
        <p:spPr>
          <a:xfrm>
            <a:off x="6340225" y="145574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1"/>
          <p:cNvSpPr/>
          <p:nvPr/>
        </p:nvSpPr>
        <p:spPr>
          <a:xfrm>
            <a:off x="650624" y="3115637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1"/>
          <p:cNvSpPr/>
          <p:nvPr/>
        </p:nvSpPr>
        <p:spPr>
          <a:xfrm>
            <a:off x="3871344" y="4819214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1"/>
          <p:cNvSpPr/>
          <p:nvPr/>
        </p:nvSpPr>
        <p:spPr>
          <a:xfrm>
            <a:off x="6340224" y="3113553"/>
            <a:ext cx="4267737" cy="45719"/>
          </a:xfrm>
          <a:prstGeom prst="roundRect">
            <a:avLst>
              <a:gd name="adj" fmla="val 93767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18"/>
          <p:cNvSpPr/>
          <p:nvPr/>
        </p:nvSpPr>
        <p:spPr>
          <a:xfrm>
            <a:off x="2152784" y="282123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18"/>
          <p:cNvSpPr/>
          <p:nvPr/>
        </p:nvSpPr>
        <p:spPr>
          <a:xfrm>
            <a:off x="5386249" y="454975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18"/>
          <p:cNvSpPr/>
          <p:nvPr/>
        </p:nvSpPr>
        <p:spPr>
          <a:xfrm>
            <a:off x="8145556" y="1167203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18"/>
          <p:cNvSpPr/>
          <p:nvPr/>
        </p:nvSpPr>
        <p:spPr>
          <a:xfrm>
            <a:off x="8145556" y="2807611"/>
            <a:ext cx="616075" cy="630364"/>
          </a:xfrm>
          <a:prstGeom prst="roundRect">
            <a:avLst>
              <a:gd name="adj" fmla="val 149329"/>
            </a:avLst>
          </a:prstGeom>
          <a:solidFill>
            <a:srgbClr val="F8BBC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"/>
          <p:cNvSpPr/>
          <p:nvPr/>
        </p:nvSpPr>
        <p:spPr>
          <a:xfrm>
            <a:off x="1723158" y="1912260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Source Collection</a:t>
            </a:r>
            <a:endParaRPr lang="en-US" sz="2000" dirty="0"/>
          </a:p>
        </p:txBody>
      </p:sp>
      <p:sp>
        <p:nvSpPr>
          <p:cNvPr id="69" name="Text 11"/>
          <p:cNvSpPr/>
          <p:nvPr/>
        </p:nvSpPr>
        <p:spPr>
          <a:xfrm>
            <a:off x="1622075" y="3533664"/>
            <a:ext cx="3013472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Sentiment Tagging</a:t>
            </a:r>
            <a:endParaRPr lang="en-US" sz="2000" dirty="0"/>
          </a:p>
        </p:txBody>
      </p:sp>
      <p:sp>
        <p:nvSpPr>
          <p:cNvPr id="71" name="Text 7"/>
          <p:cNvSpPr/>
          <p:nvPr/>
        </p:nvSpPr>
        <p:spPr>
          <a:xfrm>
            <a:off x="7429149" y="1899823"/>
            <a:ext cx="2771656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Thematic Grouping</a:t>
            </a:r>
            <a:endParaRPr lang="en-US" sz="2000" dirty="0"/>
          </a:p>
        </p:txBody>
      </p:sp>
      <p:sp>
        <p:nvSpPr>
          <p:cNvPr id="73" name="Text 15"/>
          <p:cNvSpPr/>
          <p:nvPr/>
        </p:nvSpPr>
        <p:spPr>
          <a:xfrm>
            <a:off x="7745776" y="3533613"/>
            <a:ext cx="273950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Impact Level</a:t>
            </a:r>
            <a:endParaRPr lang="en-US" sz="2000" dirty="0"/>
          </a:p>
        </p:txBody>
      </p:sp>
      <p:sp>
        <p:nvSpPr>
          <p:cNvPr id="75" name="Text 19"/>
          <p:cNvSpPr/>
          <p:nvPr/>
        </p:nvSpPr>
        <p:spPr>
          <a:xfrm>
            <a:off x="4875953" y="5273711"/>
            <a:ext cx="340447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Insight Extraction</a:t>
            </a:r>
            <a:endParaRPr lang="en-US" sz="2000" dirty="0"/>
          </a:p>
        </p:txBody>
      </p:sp>
      <p:sp>
        <p:nvSpPr>
          <p:cNvPr id="77" name="Text 4"/>
          <p:cNvSpPr/>
          <p:nvPr/>
        </p:nvSpPr>
        <p:spPr>
          <a:xfrm>
            <a:off x="-484023" y="2199064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50"/>
              </a:lnSpc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Google, </a:t>
            </a:r>
            <a:r>
              <a:rPr lang="en-US" dirty="0" err="1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Trustpilot</a:t>
            </a: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, YouTube, App Store, </a:t>
            </a:r>
          </a:p>
          <a:p>
            <a:pPr algn="ctr">
              <a:lnSpc>
                <a:spcPts val="1650"/>
              </a:lnSpc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in-store feedback</a:t>
            </a:r>
            <a:endParaRPr lang="en-US" dirty="0"/>
          </a:p>
        </p:txBody>
      </p:sp>
      <p:sp>
        <p:nvSpPr>
          <p:cNvPr id="78" name="Text 8"/>
          <p:cNvSpPr/>
          <p:nvPr/>
        </p:nvSpPr>
        <p:spPr>
          <a:xfrm>
            <a:off x="5680510" y="2200102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50"/>
              </a:lnSpc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Delivery, Product Quality, App Experience, </a:t>
            </a:r>
          </a:p>
          <a:p>
            <a:pPr algn="ctr">
              <a:lnSpc>
                <a:spcPts val="1650"/>
              </a:lnSpc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Support, In-Store</a:t>
            </a:r>
            <a:endParaRPr lang="en-US" dirty="0"/>
          </a:p>
        </p:txBody>
      </p:sp>
      <p:sp>
        <p:nvSpPr>
          <p:cNvPr id="79" name="Text 12"/>
          <p:cNvSpPr/>
          <p:nvPr/>
        </p:nvSpPr>
        <p:spPr>
          <a:xfrm>
            <a:off x="909242" y="397031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Positive, Negative, Neutral analysis</a:t>
            </a:r>
            <a:endParaRPr lang="en-US" dirty="0"/>
          </a:p>
        </p:txBody>
      </p:sp>
      <p:sp>
        <p:nvSpPr>
          <p:cNvPr id="80" name="Text 16"/>
          <p:cNvSpPr/>
          <p:nvPr/>
        </p:nvSpPr>
        <p:spPr>
          <a:xfrm>
            <a:off x="6681710" y="3970318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High, Medium, Low on brand loyalty &amp; trust</a:t>
            </a:r>
            <a:endParaRPr lang="en-US" dirty="0"/>
          </a:p>
        </p:txBody>
      </p:sp>
      <p:sp>
        <p:nvSpPr>
          <p:cNvPr id="81" name="Text 20"/>
          <p:cNvSpPr/>
          <p:nvPr/>
        </p:nvSpPr>
        <p:spPr>
          <a:xfrm>
            <a:off x="2935722" y="5577180"/>
            <a:ext cx="59655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650"/>
              </a:lnSpc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Common issues, praise points, </a:t>
            </a:r>
          </a:p>
          <a:p>
            <a:pPr algn="ctr">
              <a:lnSpc>
                <a:spcPts val="1650"/>
              </a:lnSpc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business implications</a:t>
            </a:r>
            <a:endParaRPr lang="en-US" dirty="0"/>
          </a:p>
        </p:txBody>
      </p:sp>
      <p:sp>
        <p:nvSpPr>
          <p:cNvPr id="34" name="Text 3"/>
          <p:cNvSpPr/>
          <p:nvPr/>
        </p:nvSpPr>
        <p:spPr>
          <a:xfrm>
            <a:off x="2394370" y="1439689"/>
            <a:ext cx="31029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800" b="1" dirty="0">
                <a:solidFill>
                  <a:srgbClr val="3C3C3C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"/>
          <p:cNvSpPr/>
          <p:nvPr/>
        </p:nvSpPr>
        <p:spPr>
          <a:xfrm>
            <a:off x="8352974" y="1418747"/>
            <a:ext cx="31029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800" b="1" dirty="0">
                <a:solidFill>
                  <a:srgbClr val="3C3C3C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"/>
          <p:cNvSpPr/>
          <p:nvPr/>
        </p:nvSpPr>
        <p:spPr>
          <a:xfrm>
            <a:off x="2394370" y="3078357"/>
            <a:ext cx="31029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800" b="1" dirty="0">
                <a:solidFill>
                  <a:srgbClr val="3C3C3C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"/>
          <p:cNvSpPr/>
          <p:nvPr/>
        </p:nvSpPr>
        <p:spPr>
          <a:xfrm>
            <a:off x="8352974" y="3063046"/>
            <a:ext cx="31029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800" b="1" dirty="0">
                <a:solidFill>
                  <a:srgbClr val="3C3C3C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"/>
          <p:cNvSpPr/>
          <p:nvPr/>
        </p:nvSpPr>
        <p:spPr>
          <a:xfrm>
            <a:off x="5612344" y="4832085"/>
            <a:ext cx="310290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2800" b="1" dirty="0">
                <a:solidFill>
                  <a:srgbClr val="3C3C3C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569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Positive Customer Reviews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0" y="1127998"/>
            <a:ext cx="566976" cy="566976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570270" y="1978462"/>
            <a:ext cx="29141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Loyal Customer Base</a:t>
            </a:r>
            <a:endParaRPr lang="en-US" sz="2000" dirty="0"/>
          </a:p>
        </p:txBody>
      </p:sp>
      <p:sp>
        <p:nvSpPr>
          <p:cNvPr id="22" name="Text 2"/>
          <p:cNvSpPr/>
          <p:nvPr/>
        </p:nvSpPr>
        <p:spPr>
          <a:xfrm>
            <a:off x="570270" y="246888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Long-term users praise genuine products &amp; consistent brand experience.</a:t>
            </a:r>
            <a:endParaRPr lang="en-US" sz="2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373" y="1127998"/>
            <a:ext cx="566976" cy="566976"/>
          </a:xfrm>
          <a:prstGeom prst="rect">
            <a:avLst/>
          </a:prstGeom>
        </p:spPr>
      </p:pic>
      <p:sp>
        <p:nvSpPr>
          <p:cNvPr id="24" name="Text 3"/>
          <p:cNvSpPr/>
          <p:nvPr/>
        </p:nvSpPr>
        <p:spPr>
          <a:xfrm>
            <a:off x="5012373" y="1978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Product Quality</a:t>
            </a:r>
            <a:endParaRPr lang="en-US" sz="2000" dirty="0"/>
          </a:p>
        </p:txBody>
      </p:sp>
      <p:sp>
        <p:nvSpPr>
          <p:cNvPr id="25" name="Text 4"/>
          <p:cNvSpPr/>
          <p:nvPr/>
        </p:nvSpPr>
        <p:spPr>
          <a:xfrm>
            <a:off x="5012373" y="246888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Customers appreciate authentic products and wide variety of brands.</a:t>
            </a:r>
            <a:endParaRPr lang="en-US" sz="2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954" y="2934097"/>
            <a:ext cx="566976" cy="566976"/>
          </a:xfrm>
          <a:prstGeom prst="rect">
            <a:avLst/>
          </a:prstGeom>
        </p:spPr>
      </p:pic>
      <p:sp>
        <p:nvSpPr>
          <p:cNvPr id="27" name="Text 5"/>
          <p:cNvSpPr/>
          <p:nvPr/>
        </p:nvSpPr>
        <p:spPr>
          <a:xfrm>
            <a:off x="9170988" y="36100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Fast Delivery </a:t>
            </a:r>
          </a:p>
          <a:p>
            <a:pPr marL="0" indent="0" algn="ctr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(</a:t>
            </a:r>
            <a:r>
              <a:rPr lang="en-US" sz="2000" b="1" dirty="0" err="1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Nykaa</a:t>
            </a: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 Now)</a:t>
            </a:r>
            <a:endParaRPr lang="en-US" sz="2000" dirty="0"/>
          </a:p>
        </p:txBody>
      </p:sp>
      <p:sp>
        <p:nvSpPr>
          <p:cNvPr id="28" name="Text 6"/>
          <p:cNvSpPr/>
          <p:nvPr/>
        </p:nvSpPr>
        <p:spPr>
          <a:xfrm>
            <a:off x="9170988" y="4343023"/>
            <a:ext cx="2835235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Customers appreciate timely deliveries &amp; smooth order tracking process.</a:t>
            </a:r>
            <a:endParaRPr lang="en-US" sz="20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70" y="4124563"/>
            <a:ext cx="566976" cy="566976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570270" y="49750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Brand Trust</a:t>
            </a:r>
            <a:endParaRPr lang="en-US" sz="2000" dirty="0"/>
          </a:p>
        </p:txBody>
      </p:sp>
      <p:sp>
        <p:nvSpPr>
          <p:cNvPr id="31" name="Text 8"/>
          <p:cNvSpPr/>
          <p:nvPr/>
        </p:nvSpPr>
        <p:spPr>
          <a:xfrm>
            <a:off x="570270" y="546544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Established reputation and reliability in beauty product delivery.</a:t>
            </a:r>
            <a:endParaRPr lang="en-US" sz="2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373" y="4124563"/>
            <a:ext cx="566976" cy="566976"/>
          </a:xfrm>
          <a:prstGeom prst="rect">
            <a:avLst/>
          </a:prstGeom>
        </p:spPr>
      </p:pic>
      <p:sp>
        <p:nvSpPr>
          <p:cNvPr id="33" name="Text 9"/>
          <p:cNvSpPr/>
          <p:nvPr/>
        </p:nvSpPr>
        <p:spPr>
          <a:xfrm>
            <a:off x="5012373" y="49750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App Convenience</a:t>
            </a:r>
            <a:endParaRPr lang="en-US" sz="2000" dirty="0"/>
          </a:p>
        </p:txBody>
      </p:sp>
      <p:sp>
        <p:nvSpPr>
          <p:cNvPr id="34" name="Text 10"/>
          <p:cNvSpPr/>
          <p:nvPr/>
        </p:nvSpPr>
        <p:spPr>
          <a:xfrm>
            <a:off x="5012373" y="546544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Easy browsing, product discovery, and seamless checkout experience.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91530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Neutral Customer Reviews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50" y="1442972"/>
            <a:ext cx="566976" cy="56697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99150" y="22934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Confusing Returns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499150" y="278385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Delays &amp; confusion with exchanges/returns of defective items.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253" y="1442972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941253" y="22934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Out-of-Stock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4941253" y="278385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Shoppers can't find favorite products, wait for restocks.</a:t>
            </a:r>
            <a:endParaRPr lang="en-US" sz="2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779" y="2783525"/>
            <a:ext cx="645475" cy="6454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79846" y="3614259"/>
            <a:ext cx="1991056" cy="40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Undertrained Staff</a:t>
            </a:r>
            <a:endParaRPr lang="en-US" sz="2000" dirty="0"/>
          </a:p>
        </p:txBody>
      </p:sp>
      <p:sp>
        <p:nvSpPr>
          <p:cNvPr id="13" name="Text 6"/>
          <p:cNvSpPr/>
          <p:nvPr/>
        </p:nvSpPr>
        <p:spPr>
          <a:xfrm>
            <a:off x="9190313" y="4076635"/>
            <a:ext cx="2920405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Store employees lacking product knowledge.</a:t>
            </a:r>
            <a:endParaRPr lang="en-US" sz="2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50" y="4076635"/>
            <a:ext cx="566976" cy="56697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99150" y="4927098"/>
            <a:ext cx="29296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App Coupon Glitches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499150" y="54175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Coupons disappearing or being rejected without clear reasons.</a:t>
            </a:r>
            <a:endParaRPr lang="en-US" sz="2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253" y="4076635"/>
            <a:ext cx="566976" cy="56697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41253" y="4927098"/>
            <a:ext cx="28373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Damaged Packaging</a:t>
            </a:r>
            <a:endParaRPr lang="en-US" sz="2000" dirty="0"/>
          </a:p>
        </p:txBody>
      </p:sp>
      <p:sp>
        <p:nvSpPr>
          <p:cNvPr id="19" name="Text 10"/>
          <p:cNvSpPr/>
          <p:nvPr/>
        </p:nvSpPr>
        <p:spPr>
          <a:xfrm>
            <a:off x="4941253" y="54175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Reduces premium unboxing experience.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88119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Negative Customer Reviews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50" y="1442972"/>
            <a:ext cx="566976" cy="56697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46750" y="22934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App Bugs During Payment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346750" y="278385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Few users faced issues during payment, especially with coupons or UPI.</a:t>
            </a:r>
            <a:endParaRPr lang="en-US" sz="2000" dirty="0"/>
          </a:p>
        </p:txBody>
      </p:sp>
      <p:sp>
        <p:nvSpPr>
          <p:cNvPr id="9" name="Text 3"/>
          <p:cNvSpPr/>
          <p:nvPr/>
        </p:nvSpPr>
        <p:spPr>
          <a:xfrm>
            <a:off x="4788854" y="2293436"/>
            <a:ext cx="20937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Refund Delays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4788853" y="278385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Several users report delayed or unresolved refund cases.</a:t>
            </a:r>
            <a:endParaRPr lang="en-US" sz="2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414" y="2851878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7691" y="3615982"/>
            <a:ext cx="28636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Poor Customer Support</a:t>
            </a:r>
            <a:endParaRPr lang="en-US" sz="2000" dirty="0"/>
          </a:p>
        </p:txBody>
      </p:sp>
      <p:sp>
        <p:nvSpPr>
          <p:cNvPr id="13" name="Text 6"/>
          <p:cNvSpPr/>
          <p:nvPr/>
        </p:nvSpPr>
        <p:spPr>
          <a:xfrm>
            <a:off x="8255595" y="407663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Difficulty in reaching support or receiving scripted responses.</a:t>
            </a:r>
            <a:endParaRPr lang="en-US" sz="2000" dirty="0"/>
          </a:p>
        </p:txBody>
      </p:sp>
      <p:sp>
        <p:nvSpPr>
          <p:cNvPr id="15" name="Text 7"/>
          <p:cNvSpPr/>
          <p:nvPr/>
        </p:nvSpPr>
        <p:spPr>
          <a:xfrm>
            <a:off x="346750" y="49270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Wrong or Damaged Orders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346750" y="54175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Complaints about receiving incorrect or used/missing items.</a:t>
            </a:r>
            <a:endParaRPr lang="en-US" sz="2000" dirty="0"/>
          </a:p>
        </p:txBody>
      </p:sp>
      <p:sp>
        <p:nvSpPr>
          <p:cNvPr id="18" name="Text 9"/>
          <p:cNvSpPr/>
          <p:nvPr/>
        </p:nvSpPr>
        <p:spPr>
          <a:xfrm>
            <a:off x="4788853" y="49270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3C3C3C"/>
                </a:solidFill>
                <a:ea typeface="Inter Bold" pitchFamily="34" charset="-122"/>
                <a:cs typeface="Inter Bold" pitchFamily="34" charset="-120"/>
              </a:rPr>
              <a:t>Lack Of Testers In Physical Stores</a:t>
            </a:r>
            <a:endParaRPr lang="en-US" sz="2000" dirty="0"/>
          </a:p>
        </p:txBody>
      </p:sp>
      <p:sp>
        <p:nvSpPr>
          <p:cNvPr id="19" name="Text 10"/>
          <p:cNvSpPr/>
          <p:nvPr/>
        </p:nvSpPr>
        <p:spPr>
          <a:xfrm>
            <a:off x="4788853" y="541751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Offline customers were unhappy due to missing product testers.</a:t>
            </a:r>
            <a:endParaRPr lang="en-US" sz="200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5ACB5EC0-930B-CA03-D641-A9C6CA353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598" y="1427476"/>
            <a:ext cx="566976" cy="566976"/>
          </a:xfrm>
          <a:prstGeom prst="rect">
            <a:avLst/>
          </a:prstGeom>
        </p:spPr>
      </p:pic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FEA3DC2F-5964-DEF1-C127-A18E8A809F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50" y="4061138"/>
            <a:ext cx="566976" cy="566976"/>
          </a:xfrm>
          <a:prstGeom prst="rect">
            <a:avLst/>
          </a:prstGeom>
        </p:spPr>
      </p:pic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BDEA2E7-1B1B-C7B5-CEF8-250C78F02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598" y="4061138"/>
            <a:ext cx="566976" cy="56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4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7298A-F5C7-32B8-281E-9BAA50449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61AF6-25FD-4222-D81A-C94AD90E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-224811"/>
            <a:ext cx="1203222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Customer Review Impact Segmentation Table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D0943-62B5-79AA-7E5B-20A3892FE852}"/>
              </a:ext>
            </a:extLst>
          </p:cNvPr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E1CB8C-2F2F-4461-30FF-021003F0F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440682"/>
              </p:ext>
            </p:extLst>
          </p:nvPr>
        </p:nvGraphicFramePr>
        <p:xfrm>
          <a:off x="383458" y="1310077"/>
          <a:ext cx="11425084" cy="387942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824748">
                  <a:extLst>
                    <a:ext uri="{9D8B030D-6E8A-4147-A177-3AD203B41FA5}">
                      <a16:colId xmlns:a16="http://schemas.microsoft.com/office/drawing/2014/main" val="2167457945"/>
                    </a:ext>
                  </a:extLst>
                </a:gridCol>
                <a:gridCol w="3805084">
                  <a:extLst>
                    <a:ext uri="{9D8B030D-6E8A-4147-A177-3AD203B41FA5}">
                      <a16:colId xmlns:a16="http://schemas.microsoft.com/office/drawing/2014/main" val="1366797944"/>
                    </a:ext>
                  </a:extLst>
                </a:gridCol>
                <a:gridCol w="3795252">
                  <a:extLst>
                    <a:ext uri="{9D8B030D-6E8A-4147-A177-3AD203B41FA5}">
                      <a16:colId xmlns:a16="http://schemas.microsoft.com/office/drawing/2014/main" val="19031733"/>
                    </a:ext>
                  </a:extLst>
                </a:gridCol>
              </a:tblGrid>
              <a:tr h="898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High Impact</a:t>
                      </a:r>
                      <a:endParaRPr lang="en-IN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Medium Impact</a:t>
                      </a:r>
                      <a:endParaRPr lang="en-IN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Low Impact</a:t>
                      </a:r>
                      <a:endParaRPr lang="en-IN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rgbClr val="F8B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45660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Refund delays affecting user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</a:rPr>
                        <a:t>Coupon application confusion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Wishlist or save feature missing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07852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n-lt"/>
                        </a:rPr>
                        <a:t>Wrong or damaged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n-lt"/>
                        </a:rPr>
                        <a:t>Average in-store staff behaviour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n-lt"/>
                        </a:rPr>
                        <a:t>App UI design suggestions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499565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Delivery delays during peak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Out-of-stock issues for niche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Request for more product filters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194984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Customer service not responsive or delayed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App lags or slow checkout on select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</a:rPr>
                        <a:t>In-store tester unavailability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18846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Repeated order cancellation without notice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</a:rPr>
                        <a:t>Mixed feedback on packaging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</a:rPr>
                        <a:t>Minor layout changes suggested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197719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App bugs during payment causing order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+mn-lt"/>
                        </a:rPr>
                        <a:t>Delivery agent </a:t>
                      </a:r>
                      <a:r>
                        <a:rPr lang="en-IN" sz="1600" dirty="0" err="1">
                          <a:latin typeface="+mn-lt"/>
                        </a:rPr>
                        <a:t>behavior</a:t>
                      </a:r>
                      <a:r>
                        <a:rPr lang="en-IN" sz="1600" dirty="0">
                          <a:latin typeface="+mn-lt"/>
                        </a:rPr>
                        <a:t>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Lack of regional language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668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05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203222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Nykaa &amp; Its Competitors In July 2025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886455"/>
              </p:ext>
            </p:extLst>
          </p:nvPr>
        </p:nvGraphicFramePr>
        <p:xfrm>
          <a:off x="338768" y="1283857"/>
          <a:ext cx="5578763" cy="447775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586182">
                  <a:extLst>
                    <a:ext uri="{9D8B030D-6E8A-4147-A177-3AD203B41FA5}">
                      <a16:colId xmlns:a16="http://schemas.microsoft.com/office/drawing/2014/main" val="307830703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2167457945"/>
                    </a:ext>
                  </a:extLst>
                </a:gridCol>
                <a:gridCol w="1126836">
                  <a:extLst>
                    <a:ext uri="{9D8B030D-6E8A-4147-A177-3AD203B41FA5}">
                      <a16:colId xmlns:a16="http://schemas.microsoft.com/office/drawing/2014/main" val="1366797944"/>
                    </a:ext>
                  </a:extLst>
                </a:gridCol>
                <a:gridCol w="895927">
                  <a:extLst>
                    <a:ext uri="{9D8B030D-6E8A-4147-A177-3AD203B41FA5}">
                      <a16:colId xmlns:a16="http://schemas.microsoft.com/office/drawing/2014/main" val="19031733"/>
                    </a:ext>
                  </a:extLst>
                </a:gridCol>
              </a:tblGrid>
              <a:tr h="898577">
                <a:tc>
                  <a:txBody>
                    <a:bodyPr/>
                    <a:lstStyle/>
                    <a:p>
                      <a:pPr algn="l"/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Nykaa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Ecosystem Brands/Companies</a:t>
                      </a:r>
                      <a:endParaRPr lang="en-IN" sz="1800" b="1" dirty="0">
                        <a:latin typeface="+mn-lt"/>
                      </a:endParaRPr>
                    </a:p>
                  </a:txBody>
                  <a:tcPr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Monthly Visits</a:t>
                      </a:r>
                      <a:endParaRPr lang="en-IN" sz="18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Authority Score</a:t>
                      </a:r>
                      <a:endParaRPr lang="en-IN" sz="18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Bounce Rate</a:t>
                      </a:r>
                      <a:endParaRPr lang="en-IN" sz="18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solidFill>
                      <a:srgbClr val="F8B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45660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 algn="l"/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Nykaa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(nykaa.com)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8.73M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75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69.29%</a:t>
                      </a:r>
                      <a:endParaRPr lang="en-IN" sz="1400" kern="10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215207852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 algn="l"/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Nykaa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Man (nykaaman.com)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1.65M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43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72.03%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1482499565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 algn="l"/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Nykaa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Fashion (nykaafashion.com)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Data not separately available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2342194984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 algn="l"/>
                      <a:r>
                        <a:rPr lang="en-IN" sz="16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Superstore by </a:t>
                      </a:r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Nykaa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(B2B platform)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B2B platform, not public traffic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303818846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 algn="l"/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Nykaa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Cosmetics, Kay Beauty, Dot &amp; Key, </a:t>
                      </a:r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Nykd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, (in-house brands)</a:t>
                      </a:r>
                      <a:endParaRPr lang="en-IN" sz="16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2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321519771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08975"/>
              </p:ext>
            </p:extLst>
          </p:nvPr>
        </p:nvGraphicFramePr>
        <p:xfrm>
          <a:off x="6282367" y="1283857"/>
          <a:ext cx="5578763" cy="447775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586182">
                  <a:extLst>
                    <a:ext uri="{9D8B030D-6E8A-4147-A177-3AD203B41FA5}">
                      <a16:colId xmlns:a16="http://schemas.microsoft.com/office/drawing/2014/main" val="307830703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2167457945"/>
                    </a:ext>
                  </a:extLst>
                </a:gridCol>
                <a:gridCol w="1126836">
                  <a:extLst>
                    <a:ext uri="{9D8B030D-6E8A-4147-A177-3AD203B41FA5}">
                      <a16:colId xmlns:a16="http://schemas.microsoft.com/office/drawing/2014/main" val="1366797944"/>
                    </a:ext>
                  </a:extLst>
                </a:gridCol>
                <a:gridCol w="895927">
                  <a:extLst>
                    <a:ext uri="{9D8B030D-6E8A-4147-A177-3AD203B41FA5}">
                      <a16:colId xmlns:a16="http://schemas.microsoft.com/office/drawing/2014/main" val="19031733"/>
                    </a:ext>
                  </a:extLst>
                </a:gridCol>
              </a:tblGrid>
              <a:tr h="9051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Nykaa</a:t>
                      </a:r>
                      <a:r>
                        <a:rPr lang="en-IN" sz="1800" b="1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 Competitors</a:t>
                      </a:r>
                      <a:endParaRPr lang="en-IN" sz="18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Monthly Visits</a:t>
                      </a:r>
                      <a:endParaRPr lang="en-IN" sz="18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Authority Score</a:t>
                      </a:r>
                      <a:endParaRPr lang="en-IN" sz="18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Bounce Rate</a:t>
                      </a:r>
                      <a:endParaRPr lang="en-IN" sz="18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>
                    <a:solidFill>
                      <a:srgbClr val="F8B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45660"/>
                  </a:ext>
                </a:extLst>
              </a:tr>
              <a:tr h="4838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Purplle</a:t>
                      </a:r>
                      <a:endParaRPr lang="en-IN" sz="16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1.63M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57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75.32%</a:t>
                      </a:r>
                      <a:endParaRPr lang="en-IN" sz="1400" kern="10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2152078523"/>
                  </a:ext>
                </a:extLst>
              </a:tr>
              <a:tr h="4838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Mamaearth</a:t>
                      </a:r>
                      <a:endParaRPr lang="en-IN" sz="16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2.44M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59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75.65%</a:t>
                      </a:r>
                      <a:endParaRPr lang="en-IN" sz="1400" kern="10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1482499565"/>
                  </a:ext>
                </a:extLst>
              </a:tr>
              <a:tr h="4838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Myntra</a:t>
                      </a:r>
                      <a:endParaRPr lang="en-IN" sz="16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60.67M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84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64.61%</a:t>
                      </a:r>
                      <a:endParaRPr lang="en-IN" sz="1400" kern="10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2342194984"/>
                  </a:ext>
                </a:extLst>
              </a:tr>
              <a:tr h="6695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Tira</a:t>
                      </a:r>
                      <a:r>
                        <a:rPr lang="en-IN" sz="16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 Beauty</a:t>
                      </a:r>
                      <a:endParaRPr lang="en-IN" sz="16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3.2M–4.1M</a:t>
                      </a:r>
                      <a:endParaRPr lang="en-IN" sz="1400" kern="10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50.92%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3038188463"/>
                  </a:ext>
                </a:extLst>
              </a:tr>
              <a:tr h="4838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Sephora India</a:t>
                      </a:r>
                      <a:endParaRPr lang="en-IN" sz="16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195.7K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3215197719"/>
                  </a:ext>
                </a:extLst>
              </a:tr>
              <a:tr h="4838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Plum Goodness</a:t>
                      </a:r>
                      <a:endParaRPr lang="en-IN" sz="16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741K–508K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400" kern="10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400" kern="10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3473166165"/>
                  </a:ext>
                </a:extLst>
              </a:tr>
              <a:tr h="4838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BeMinimalist</a:t>
                      </a:r>
                      <a:endParaRPr lang="en-IN" sz="16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2M</a:t>
                      </a:r>
                      <a:endParaRPr lang="en-IN" sz="1400" kern="10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19050" dir="2700000" algn="tl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—</a:t>
                      </a:r>
                      <a:endParaRPr lang="en-IN" sz="14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b"/>
                </a:tc>
                <a:extLst>
                  <a:ext uri="{0D108BD9-81ED-4DB2-BD59-A6C34878D82A}">
                    <a16:rowId xmlns:a16="http://schemas.microsoft.com/office/drawing/2014/main" val="257020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105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203222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Competitive Analysis – Nykaa VS Industry Players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375542"/>
              </p:ext>
            </p:extLst>
          </p:nvPr>
        </p:nvGraphicFramePr>
        <p:xfrm>
          <a:off x="341745" y="2172674"/>
          <a:ext cx="8842895" cy="426099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07830703"/>
                    </a:ext>
                  </a:extLst>
                </a:gridCol>
                <a:gridCol w="1791855">
                  <a:extLst>
                    <a:ext uri="{9D8B030D-6E8A-4147-A177-3AD203B41FA5}">
                      <a16:colId xmlns:a16="http://schemas.microsoft.com/office/drawing/2014/main" val="2167457945"/>
                    </a:ext>
                  </a:extLst>
                </a:gridCol>
                <a:gridCol w="4917440">
                  <a:extLst>
                    <a:ext uri="{9D8B030D-6E8A-4147-A177-3AD203B41FA5}">
                      <a16:colId xmlns:a16="http://schemas.microsoft.com/office/drawing/2014/main" val="1366797944"/>
                    </a:ext>
                  </a:extLst>
                </a:gridCol>
              </a:tblGrid>
              <a:tr h="89857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Factor</a:t>
                      </a:r>
                      <a:endParaRPr lang="en-IN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Nykaa</a:t>
                      </a:r>
                      <a:endParaRPr lang="en-IN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BD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Key Competitors</a:t>
                      </a:r>
                      <a:endParaRPr lang="en-IN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245660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Monthly Traffic</a:t>
                      </a:r>
                      <a:endParaRPr lang="en-IN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8.73M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Myntra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(60M+),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Tira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(3–4M),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Mamaearth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(2.4M),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Purplle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(1.6M)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5207852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Authority Score</a:t>
                      </a:r>
                      <a:endParaRPr lang="en-IN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75 (very strong SEO)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Myntra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(84),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Mamaearth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(59),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Purplle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(57)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2499565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Bounce Rate</a:t>
                      </a:r>
                      <a:endParaRPr lang="en-IN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69.29%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Tira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(50.9%),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Purplle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(75%), </a:t>
                      </a: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Mamaearth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(75.6%)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2194984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Brand Ecosystem</a:t>
                      </a:r>
                      <a:endParaRPr lang="en-IN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Robust (Fashion, B2B, Men)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Most offer 1–2 verticals only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8188463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Stores</a:t>
                      </a:r>
                      <a:endParaRPr lang="en-IN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230+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Tira</a:t>
                      </a: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(~50), Sephora (~30), others online-only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15197719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Content Strategy</a:t>
                      </a:r>
                      <a:endParaRPr lang="en-IN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Nykaa TV, influencers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Minimal or generic across most rivals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73668631"/>
                  </a:ext>
                </a:extLst>
              </a:tr>
              <a:tr h="480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Omnichannel</a:t>
                      </a:r>
                      <a:endParaRPr lang="en-IN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Yes (App + Web + Retail)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Mainly digital; few have offline presence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6039848"/>
                  </a:ext>
                </a:extLst>
              </a:tr>
            </a:tbl>
          </a:graphicData>
        </a:graphic>
      </p:graphicFrame>
      <p:sp>
        <p:nvSpPr>
          <p:cNvPr id="12" name="Text 3"/>
          <p:cNvSpPr/>
          <p:nvPr/>
        </p:nvSpPr>
        <p:spPr>
          <a:xfrm>
            <a:off x="341745" y="812841"/>
            <a:ext cx="3758327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ea typeface="Petrona Bold" pitchFamily="34" charset="-122"/>
                <a:cs typeface="Petrona Bold" pitchFamily="34" charset="-120"/>
              </a:rPr>
              <a:t>Key Competitors</a:t>
            </a:r>
            <a:endParaRPr lang="en-US" sz="2000" dirty="0"/>
          </a:p>
        </p:txBody>
      </p:sp>
      <p:sp>
        <p:nvSpPr>
          <p:cNvPr id="13" name="Text 2"/>
          <p:cNvSpPr/>
          <p:nvPr/>
        </p:nvSpPr>
        <p:spPr>
          <a:xfrm>
            <a:off x="486091" y="116104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Direct: </a:t>
            </a:r>
            <a:r>
              <a:rPr lang="en-US" dirty="0" err="1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Purplle</a:t>
            </a: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, </a:t>
            </a:r>
            <a:r>
              <a:rPr lang="en-US" dirty="0" err="1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Tira</a:t>
            </a: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, Sephora India</a:t>
            </a:r>
            <a:endParaRPr lang="en-US" dirty="0"/>
          </a:p>
        </p:txBody>
      </p:sp>
      <p:sp>
        <p:nvSpPr>
          <p:cNvPr id="14" name="Text 3"/>
          <p:cNvSpPr/>
          <p:nvPr/>
        </p:nvSpPr>
        <p:spPr>
          <a:xfrm>
            <a:off x="5947291" y="11625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Adjacent/D2C: </a:t>
            </a:r>
            <a:r>
              <a:rPr lang="en-US" dirty="0" err="1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Mamaearth</a:t>
            </a: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, Plum, </a:t>
            </a:r>
            <a:r>
              <a:rPr lang="en-US" dirty="0" err="1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BeMinimalist</a:t>
            </a:r>
            <a:endParaRPr lang="en-US" dirty="0"/>
          </a:p>
        </p:txBody>
      </p:sp>
      <p:sp>
        <p:nvSpPr>
          <p:cNvPr id="15" name="Text 4"/>
          <p:cNvSpPr/>
          <p:nvPr/>
        </p:nvSpPr>
        <p:spPr>
          <a:xfrm>
            <a:off x="486090" y="15842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Category Giant: </a:t>
            </a:r>
            <a:r>
              <a:rPr lang="en-US" dirty="0" err="1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Myntra</a:t>
            </a:r>
            <a:r>
              <a:rPr lang="en-US" dirty="0">
                <a:solidFill>
                  <a:srgbClr val="3C3C3C"/>
                </a:solidFill>
                <a:ea typeface="Inter" pitchFamily="34" charset="-122"/>
                <a:cs typeface="Inter" pitchFamily="34" charset="-120"/>
              </a:rPr>
              <a:t> (Fashion + Beauty Hybrid)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252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Strategic Recommendations for Nykaa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hape 1"/>
          <p:cNvSpPr/>
          <p:nvPr/>
        </p:nvSpPr>
        <p:spPr>
          <a:xfrm>
            <a:off x="255640" y="1167402"/>
            <a:ext cx="3564520" cy="1685092"/>
          </a:xfrm>
          <a:prstGeom prst="roundRect">
            <a:avLst>
              <a:gd name="adj" fmla="val 5654"/>
            </a:avLst>
          </a:prstGeom>
          <a:solidFill>
            <a:srgbClr val="FFDD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490074" y="14018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6699"/>
                </a:solidFill>
                <a:ea typeface="Inter Bold" pitchFamily="34" charset="-122"/>
                <a:cs typeface="Inter Bold" pitchFamily="34" charset="-120"/>
              </a:rPr>
              <a:t>Delivery &amp; Refunds</a:t>
            </a:r>
            <a:endParaRPr lang="en-US" sz="2000" dirty="0">
              <a:solidFill>
                <a:srgbClr val="FF6699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490074" y="189225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reliable couriers,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refund timelines.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451998" y="1167402"/>
            <a:ext cx="3747492" cy="1685092"/>
          </a:xfrm>
          <a:prstGeom prst="roundRect">
            <a:avLst>
              <a:gd name="adj" fmla="val 5654"/>
            </a:avLst>
          </a:prstGeom>
          <a:solidFill>
            <a:srgbClr val="FFDD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4628766" y="14018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6699"/>
                </a:solidFill>
                <a:ea typeface="Inter Bold" pitchFamily="34" charset="-122"/>
                <a:cs typeface="Inter Bold" pitchFamily="34" charset="-120"/>
              </a:rPr>
              <a:t>Customer Support</a:t>
            </a:r>
            <a:endParaRPr lang="en-US" sz="2000" dirty="0">
              <a:solidFill>
                <a:srgbClr val="FF6699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4628766" y="189225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agents, launch live ticket tracking.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8660740" y="1167402"/>
            <a:ext cx="3338222" cy="1685092"/>
          </a:xfrm>
          <a:prstGeom prst="roundRect">
            <a:avLst>
              <a:gd name="adj" fmla="val 5654"/>
            </a:avLst>
          </a:prstGeom>
          <a:solidFill>
            <a:srgbClr val="FFDD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838578" y="1401837"/>
            <a:ext cx="28773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6699"/>
                </a:solidFill>
                <a:ea typeface="Inter Bold" pitchFamily="34" charset="-122"/>
                <a:cs typeface="Inter Bold" pitchFamily="34" charset="-120"/>
              </a:rPr>
              <a:t>Product Authenticity</a:t>
            </a:r>
            <a:endParaRPr lang="en-US" sz="2000" dirty="0">
              <a:solidFill>
                <a:srgbClr val="FF6699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8838578" y="189225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AI checks, verified packaging indicators.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255640" y="3079308"/>
            <a:ext cx="3573065" cy="1685092"/>
          </a:xfrm>
          <a:prstGeom prst="roundRect">
            <a:avLst>
              <a:gd name="adj" fmla="val 5654"/>
            </a:avLst>
          </a:prstGeom>
          <a:solidFill>
            <a:srgbClr val="FFDD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90074" y="3313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6699"/>
                </a:solidFill>
                <a:ea typeface="Inter Bold" pitchFamily="34" charset="-122"/>
                <a:cs typeface="Inter Bold" pitchFamily="34" charset="-120"/>
              </a:rPr>
              <a:t>In-Store Staff</a:t>
            </a:r>
            <a:endParaRPr lang="en-US" sz="2000" dirty="0">
              <a:solidFill>
                <a:srgbClr val="FF6699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490074" y="380416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training, collect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feedback.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4451998" y="3079308"/>
            <a:ext cx="3757730" cy="1685092"/>
          </a:xfrm>
          <a:prstGeom prst="roundRect">
            <a:avLst>
              <a:gd name="adj" fmla="val 5654"/>
            </a:avLst>
          </a:prstGeom>
          <a:solidFill>
            <a:srgbClr val="FFDD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628766" y="3313742"/>
            <a:ext cx="32862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6699"/>
                </a:solidFill>
                <a:ea typeface="Inter Bold" pitchFamily="34" charset="-122"/>
                <a:cs typeface="Inter Bold" pitchFamily="34" charset="-120"/>
              </a:rPr>
              <a:t>App &amp; UX Enhancement</a:t>
            </a:r>
            <a:endParaRPr lang="en-US" sz="2000" dirty="0">
              <a:solidFill>
                <a:srgbClr val="FF6699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4628766" y="380416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bugs, add smart filters, gamify loyalty.</a:t>
            </a:r>
            <a:endParaRPr lang="en-US" sz="1750" dirty="0"/>
          </a:p>
        </p:txBody>
      </p:sp>
      <p:sp>
        <p:nvSpPr>
          <p:cNvPr id="20" name="Shape 16"/>
          <p:cNvSpPr/>
          <p:nvPr/>
        </p:nvSpPr>
        <p:spPr>
          <a:xfrm>
            <a:off x="8670977" y="3071688"/>
            <a:ext cx="3327984" cy="1685092"/>
          </a:xfrm>
          <a:prstGeom prst="roundRect">
            <a:avLst>
              <a:gd name="adj" fmla="val 5654"/>
            </a:avLst>
          </a:prstGeom>
          <a:solidFill>
            <a:srgbClr val="FFDD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8838578" y="3313742"/>
            <a:ext cx="28449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6699"/>
                </a:solidFill>
                <a:ea typeface="Inter Bold" pitchFamily="34" charset="-122"/>
                <a:cs typeface="Inter Bold" pitchFamily="34" charset="-120"/>
              </a:rPr>
              <a:t>Reduce Bounce Rate</a:t>
            </a:r>
            <a:endParaRPr lang="en-US" sz="2000" dirty="0">
              <a:solidFill>
                <a:srgbClr val="FF6699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8838578" y="380416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personalization and AR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to boost engagement.</a:t>
            </a:r>
            <a:endParaRPr lang="en-US" sz="1750" dirty="0"/>
          </a:p>
        </p:txBody>
      </p:sp>
      <p:sp>
        <p:nvSpPr>
          <p:cNvPr id="23" name="Shape 19"/>
          <p:cNvSpPr/>
          <p:nvPr/>
        </p:nvSpPr>
        <p:spPr>
          <a:xfrm>
            <a:off x="255639" y="4991214"/>
            <a:ext cx="11743321" cy="1322189"/>
          </a:xfrm>
          <a:prstGeom prst="roundRect">
            <a:avLst>
              <a:gd name="adj" fmla="val 7205"/>
            </a:avLst>
          </a:prstGeom>
          <a:solidFill>
            <a:srgbClr val="FFDDEE"/>
          </a:solidFill>
          <a:ln w="762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490074" y="5225648"/>
            <a:ext cx="28490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FF6699"/>
                </a:solidFill>
                <a:ea typeface="Inter Bold" pitchFamily="34" charset="-122"/>
                <a:cs typeface="Inter Bold" pitchFamily="34" charset="-120"/>
              </a:rPr>
              <a:t>Monitor Competition</a:t>
            </a:r>
            <a:endParaRPr lang="en-US" sz="2000" dirty="0">
              <a:solidFill>
                <a:srgbClr val="FF6699"/>
              </a:solidFill>
            </a:endParaRPr>
          </a:p>
        </p:txBody>
      </p:sp>
      <p:sp>
        <p:nvSpPr>
          <p:cNvPr id="25" name="Text 21"/>
          <p:cNvSpPr/>
          <p:nvPr/>
        </p:nvSpPr>
        <p:spPr>
          <a:xfrm>
            <a:off x="490074" y="5716066"/>
            <a:ext cx="125738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Tira, Purplle; expand faster in Tier-2 markets.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17579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74" y="-2248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Websites Used For Analysis</a:t>
            </a:r>
            <a:endParaRPr lang="en-IN" sz="32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640" y="684385"/>
            <a:ext cx="10451690" cy="49161"/>
          </a:xfrm>
          <a:prstGeom prst="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/>
          <p:cNvSpPr/>
          <p:nvPr/>
        </p:nvSpPr>
        <p:spPr>
          <a:xfrm>
            <a:off x="255640" y="806112"/>
            <a:ext cx="108695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https://www.nykaa.com/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https://economictimes.indiatimes.com/industry/services/retail/nykaa-makes-biggest-physical-expansion-in-retail-space-in-fy25-adds-50-new-stores/articleshow/121517595.cms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https://www.semrush.com/website/nykaa.com/competitors/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https://www.pocketful.in/blog/nykaa-case-study-swot-analysis-and-marketing-strategy/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https://rankexdigital.com/swot-analysis-of-nykaa/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https://www.linkedin.com/posts/rashmi-s-2a8aa6216_how-nykaa-used-data-analytics-to-become-a-activity-7299437460336316416--6LG/-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https://aws.amazon.com/solutions/case-studies/nykaa/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https://www.nykaa.com/media/wysiwyg/uiTools/2025-5/Investor-Presentation-Q4-and-FY25.pdf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https://www.goodreturns.in/news/nykaa-q4-results-2025-updates-fsn-e-commerces-net-profit-surges-193-yoy-to-rs-20-28-crore-revenue-up-1432807.html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https://shyamfuture.com/details-on-nykaas-business-model-know-how-it-makes-money/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https://www.youtube.com/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6777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2046</Words>
  <Application>Microsoft Office PowerPoint</Application>
  <PresentationFormat>Widescreen</PresentationFormat>
  <Paragraphs>430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Inter</vt:lpstr>
      <vt:lpstr>Inter Bold</vt:lpstr>
      <vt:lpstr>Petrona Bold</vt:lpstr>
      <vt:lpstr>Times New Roman</vt:lpstr>
      <vt:lpstr>Office Theme</vt:lpstr>
      <vt:lpstr>PowerPoint Presentation</vt:lpstr>
      <vt:lpstr>Introduction To Nykaa</vt:lpstr>
      <vt:lpstr>Key Facts At A Glance</vt:lpstr>
      <vt:lpstr>Business Model</vt:lpstr>
      <vt:lpstr>Market Position &amp; Growth</vt:lpstr>
      <vt:lpstr>Market Position &amp; Growth</vt:lpstr>
      <vt:lpstr>Market Position &amp; Growth</vt:lpstr>
      <vt:lpstr>Revenue Model</vt:lpstr>
      <vt:lpstr>Revenue Model</vt:lpstr>
      <vt:lpstr>Comparable Online Stores Of Nykaa In Care Products In India</vt:lpstr>
      <vt:lpstr>Technology Utilization</vt:lpstr>
      <vt:lpstr>What Nykaa Leaders Say</vt:lpstr>
      <vt:lpstr>Data Analytics &amp; Personalization</vt:lpstr>
      <vt:lpstr>SWOT Analysis</vt:lpstr>
      <vt:lpstr>Customer Review Analysis - Methodology</vt:lpstr>
      <vt:lpstr>Positive Customer Reviews</vt:lpstr>
      <vt:lpstr>Neutral Customer Reviews</vt:lpstr>
      <vt:lpstr>Negative Customer Reviews</vt:lpstr>
      <vt:lpstr>Customer Review Impact Segmentation Table</vt:lpstr>
      <vt:lpstr>Nykaa &amp; Its Competitors In July 2025</vt:lpstr>
      <vt:lpstr>Competitive Analysis – Nykaa VS Industry Players</vt:lpstr>
      <vt:lpstr>Strategic Recommendations for Nykaa</vt:lpstr>
      <vt:lpstr>Websites Used For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DHRUV MALHOTRA</cp:lastModifiedBy>
  <cp:revision>78</cp:revision>
  <dcterms:created xsi:type="dcterms:W3CDTF">2025-07-11T19:49:22Z</dcterms:created>
  <dcterms:modified xsi:type="dcterms:W3CDTF">2025-11-27T13:00:38Z</dcterms:modified>
</cp:coreProperties>
</file>